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D174E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D174E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D174E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4362" y="1709737"/>
            <a:ext cx="438150" cy="276225"/>
          </a:xfrm>
          <a:custGeom>
            <a:avLst/>
            <a:gdLst/>
            <a:ahLst/>
            <a:cxnLst/>
            <a:rect l="l" t="t" r="r" b="b"/>
            <a:pathLst>
              <a:path w="438150" h="276225">
                <a:moveTo>
                  <a:pt x="0" y="20478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2039" y="31748"/>
                </a:lnTo>
                <a:lnTo>
                  <a:pt x="14645" y="27848"/>
                </a:lnTo>
                <a:lnTo>
                  <a:pt x="17606" y="24240"/>
                </a:lnTo>
                <a:lnTo>
                  <a:pt x="20923" y="20923"/>
                </a:lnTo>
                <a:lnTo>
                  <a:pt x="24240" y="17606"/>
                </a:lnTo>
                <a:lnTo>
                  <a:pt x="27848" y="14645"/>
                </a:lnTo>
                <a:lnTo>
                  <a:pt x="31748" y="12039"/>
                </a:lnTo>
                <a:lnTo>
                  <a:pt x="35648" y="9433"/>
                </a:lnTo>
                <a:lnTo>
                  <a:pt x="39765" y="7232"/>
                </a:lnTo>
                <a:lnTo>
                  <a:pt x="44099" y="5437"/>
                </a:lnTo>
                <a:lnTo>
                  <a:pt x="48433" y="3642"/>
                </a:lnTo>
                <a:lnTo>
                  <a:pt x="52900" y="2287"/>
                </a:lnTo>
                <a:lnTo>
                  <a:pt x="57500" y="1372"/>
                </a:lnTo>
                <a:lnTo>
                  <a:pt x="62101" y="457"/>
                </a:lnTo>
                <a:lnTo>
                  <a:pt x="66746" y="0"/>
                </a:lnTo>
                <a:lnTo>
                  <a:pt x="71437" y="0"/>
                </a:lnTo>
                <a:lnTo>
                  <a:pt x="366712" y="0"/>
                </a:lnTo>
                <a:lnTo>
                  <a:pt x="371403" y="0"/>
                </a:lnTo>
                <a:lnTo>
                  <a:pt x="376048" y="457"/>
                </a:lnTo>
                <a:lnTo>
                  <a:pt x="380649" y="1372"/>
                </a:lnTo>
                <a:lnTo>
                  <a:pt x="385249" y="2287"/>
                </a:lnTo>
                <a:lnTo>
                  <a:pt x="389716" y="3642"/>
                </a:lnTo>
                <a:lnTo>
                  <a:pt x="394050" y="5437"/>
                </a:lnTo>
                <a:lnTo>
                  <a:pt x="398383" y="7232"/>
                </a:lnTo>
                <a:lnTo>
                  <a:pt x="402500" y="9433"/>
                </a:lnTo>
                <a:lnTo>
                  <a:pt x="406400" y="12039"/>
                </a:lnTo>
                <a:lnTo>
                  <a:pt x="410301" y="14645"/>
                </a:lnTo>
                <a:lnTo>
                  <a:pt x="413909" y="17606"/>
                </a:lnTo>
                <a:lnTo>
                  <a:pt x="417226" y="20923"/>
                </a:lnTo>
                <a:lnTo>
                  <a:pt x="420543" y="24240"/>
                </a:lnTo>
                <a:lnTo>
                  <a:pt x="423504" y="27848"/>
                </a:lnTo>
                <a:lnTo>
                  <a:pt x="426110" y="31748"/>
                </a:lnTo>
                <a:lnTo>
                  <a:pt x="428716" y="35648"/>
                </a:lnTo>
                <a:lnTo>
                  <a:pt x="430916" y="39765"/>
                </a:lnTo>
                <a:lnTo>
                  <a:pt x="432711" y="44099"/>
                </a:lnTo>
                <a:lnTo>
                  <a:pt x="434507" y="48432"/>
                </a:lnTo>
                <a:lnTo>
                  <a:pt x="438149" y="71437"/>
                </a:lnTo>
                <a:lnTo>
                  <a:pt x="438149" y="204787"/>
                </a:lnTo>
                <a:lnTo>
                  <a:pt x="438149" y="209478"/>
                </a:lnTo>
                <a:lnTo>
                  <a:pt x="437692" y="214123"/>
                </a:lnTo>
                <a:lnTo>
                  <a:pt x="436777" y="218723"/>
                </a:lnTo>
                <a:lnTo>
                  <a:pt x="435862" y="223324"/>
                </a:lnTo>
                <a:lnTo>
                  <a:pt x="434507" y="227791"/>
                </a:lnTo>
                <a:lnTo>
                  <a:pt x="432711" y="232125"/>
                </a:lnTo>
                <a:lnTo>
                  <a:pt x="430916" y="236458"/>
                </a:lnTo>
                <a:lnTo>
                  <a:pt x="428716" y="240575"/>
                </a:lnTo>
                <a:lnTo>
                  <a:pt x="426110" y="244475"/>
                </a:lnTo>
                <a:lnTo>
                  <a:pt x="423504" y="248375"/>
                </a:lnTo>
                <a:lnTo>
                  <a:pt x="406400" y="264185"/>
                </a:lnTo>
                <a:lnTo>
                  <a:pt x="402500" y="266791"/>
                </a:lnTo>
                <a:lnTo>
                  <a:pt x="398383" y="268991"/>
                </a:lnTo>
                <a:lnTo>
                  <a:pt x="394050" y="270786"/>
                </a:lnTo>
                <a:lnTo>
                  <a:pt x="389716" y="272582"/>
                </a:lnTo>
                <a:lnTo>
                  <a:pt x="385249" y="273937"/>
                </a:lnTo>
                <a:lnTo>
                  <a:pt x="380649" y="274852"/>
                </a:lnTo>
                <a:lnTo>
                  <a:pt x="376048" y="275767"/>
                </a:lnTo>
                <a:lnTo>
                  <a:pt x="371403" y="276224"/>
                </a:lnTo>
                <a:lnTo>
                  <a:pt x="366712" y="276224"/>
                </a:lnTo>
                <a:lnTo>
                  <a:pt x="71437" y="276224"/>
                </a:lnTo>
                <a:lnTo>
                  <a:pt x="66746" y="276224"/>
                </a:lnTo>
                <a:lnTo>
                  <a:pt x="62101" y="275767"/>
                </a:lnTo>
                <a:lnTo>
                  <a:pt x="57500" y="274852"/>
                </a:lnTo>
                <a:lnTo>
                  <a:pt x="52900" y="273937"/>
                </a:lnTo>
                <a:lnTo>
                  <a:pt x="48433" y="272582"/>
                </a:lnTo>
                <a:lnTo>
                  <a:pt x="44099" y="270786"/>
                </a:lnTo>
                <a:lnTo>
                  <a:pt x="39765" y="268991"/>
                </a:lnTo>
                <a:lnTo>
                  <a:pt x="35648" y="266791"/>
                </a:lnTo>
                <a:lnTo>
                  <a:pt x="31748" y="264185"/>
                </a:lnTo>
                <a:lnTo>
                  <a:pt x="27848" y="261579"/>
                </a:lnTo>
                <a:lnTo>
                  <a:pt x="3642" y="227791"/>
                </a:lnTo>
                <a:lnTo>
                  <a:pt x="0" y="209478"/>
                </a:lnTo>
                <a:lnTo>
                  <a:pt x="0" y="204787"/>
                </a:lnTo>
                <a:close/>
              </a:path>
            </a:pathLst>
          </a:custGeom>
          <a:ln w="9524">
            <a:solidFill>
              <a:srgbClr val="7EA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D174E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4362" y="1014412"/>
            <a:ext cx="457200" cy="276225"/>
          </a:xfrm>
          <a:custGeom>
            <a:avLst/>
            <a:gdLst/>
            <a:ahLst/>
            <a:cxnLst/>
            <a:rect l="l" t="t" r="r" b="b"/>
            <a:pathLst>
              <a:path w="457200" h="276225">
                <a:moveTo>
                  <a:pt x="0" y="20478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7606" y="24240"/>
                </a:lnTo>
                <a:lnTo>
                  <a:pt x="20923" y="20923"/>
                </a:lnTo>
                <a:lnTo>
                  <a:pt x="24240" y="17606"/>
                </a:lnTo>
                <a:lnTo>
                  <a:pt x="62101" y="457"/>
                </a:lnTo>
                <a:lnTo>
                  <a:pt x="66746" y="0"/>
                </a:lnTo>
                <a:lnTo>
                  <a:pt x="71437" y="0"/>
                </a:lnTo>
                <a:lnTo>
                  <a:pt x="385762" y="0"/>
                </a:lnTo>
                <a:lnTo>
                  <a:pt x="390453" y="0"/>
                </a:lnTo>
                <a:lnTo>
                  <a:pt x="395098" y="457"/>
                </a:lnTo>
                <a:lnTo>
                  <a:pt x="399699" y="1372"/>
                </a:lnTo>
                <a:lnTo>
                  <a:pt x="404299" y="2287"/>
                </a:lnTo>
                <a:lnTo>
                  <a:pt x="408766" y="3642"/>
                </a:lnTo>
                <a:lnTo>
                  <a:pt x="413100" y="5437"/>
                </a:lnTo>
                <a:lnTo>
                  <a:pt x="417433" y="7232"/>
                </a:lnTo>
                <a:lnTo>
                  <a:pt x="436276" y="20923"/>
                </a:lnTo>
                <a:lnTo>
                  <a:pt x="439593" y="24240"/>
                </a:lnTo>
                <a:lnTo>
                  <a:pt x="442554" y="27848"/>
                </a:lnTo>
                <a:lnTo>
                  <a:pt x="445160" y="31748"/>
                </a:lnTo>
                <a:lnTo>
                  <a:pt x="447766" y="35648"/>
                </a:lnTo>
                <a:lnTo>
                  <a:pt x="449967" y="39765"/>
                </a:lnTo>
                <a:lnTo>
                  <a:pt x="451762" y="44099"/>
                </a:lnTo>
                <a:lnTo>
                  <a:pt x="453557" y="48433"/>
                </a:lnTo>
                <a:lnTo>
                  <a:pt x="454912" y="52900"/>
                </a:lnTo>
                <a:lnTo>
                  <a:pt x="455827" y="57500"/>
                </a:lnTo>
                <a:lnTo>
                  <a:pt x="456742" y="62101"/>
                </a:lnTo>
                <a:lnTo>
                  <a:pt x="457199" y="66746"/>
                </a:lnTo>
                <a:lnTo>
                  <a:pt x="457199" y="71437"/>
                </a:lnTo>
                <a:lnTo>
                  <a:pt x="457199" y="204787"/>
                </a:lnTo>
                <a:lnTo>
                  <a:pt x="457199" y="209478"/>
                </a:lnTo>
                <a:lnTo>
                  <a:pt x="456742" y="214123"/>
                </a:lnTo>
                <a:lnTo>
                  <a:pt x="455827" y="218723"/>
                </a:lnTo>
                <a:lnTo>
                  <a:pt x="454912" y="223324"/>
                </a:lnTo>
                <a:lnTo>
                  <a:pt x="453557" y="227791"/>
                </a:lnTo>
                <a:lnTo>
                  <a:pt x="451762" y="232125"/>
                </a:lnTo>
                <a:lnTo>
                  <a:pt x="449967" y="236458"/>
                </a:lnTo>
                <a:lnTo>
                  <a:pt x="447766" y="240575"/>
                </a:lnTo>
                <a:lnTo>
                  <a:pt x="445160" y="244475"/>
                </a:lnTo>
                <a:lnTo>
                  <a:pt x="442554" y="248375"/>
                </a:lnTo>
                <a:lnTo>
                  <a:pt x="439593" y="251984"/>
                </a:lnTo>
                <a:lnTo>
                  <a:pt x="436276" y="255301"/>
                </a:lnTo>
                <a:lnTo>
                  <a:pt x="432959" y="258618"/>
                </a:lnTo>
                <a:lnTo>
                  <a:pt x="395098" y="275767"/>
                </a:lnTo>
                <a:lnTo>
                  <a:pt x="385762" y="276224"/>
                </a:lnTo>
                <a:lnTo>
                  <a:pt x="71437" y="276224"/>
                </a:lnTo>
                <a:lnTo>
                  <a:pt x="44099" y="270786"/>
                </a:lnTo>
                <a:lnTo>
                  <a:pt x="39765" y="268991"/>
                </a:lnTo>
                <a:lnTo>
                  <a:pt x="9433" y="240575"/>
                </a:lnTo>
                <a:lnTo>
                  <a:pt x="0" y="209478"/>
                </a:lnTo>
                <a:lnTo>
                  <a:pt x="0" y="204787"/>
                </a:lnTo>
                <a:close/>
              </a:path>
            </a:pathLst>
          </a:custGeom>
          <a:ln w="9524">
            <a:solidFill>
              <a:srgbClr val="7EA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899" y="727106"/>
            <a:ext cx="9979025" cy="981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D174E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6450" y="3380733"/>
            <a:ext cx="5281930" cy="243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96899" y="2286063"/>
            <a:ext cx="7693659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45">
                <a:solidFill>
                  <a:srgbClr val="FFFFFF"/>
                </a:solidFill>
              </a:rPr>
              <a:t>AIRLINE</a:t>
            </a:r>
            <a:r>
              <a:rPr dirty="0" sz="4400" spc="-505">
                <a:solidFill>
                  <a:srgbClr val="FFFFFF"/>
                </a:solidFill>
              </a:rPr>
              <a:t> </a:t>
            </a:r>
            <a:r>
              <a:rPr dirty="0" sz="4400" spc="-250">
                <a:solidFill>
                  <a:srgbClr val="FFFFFF"/>
                </a:solidFill>
              </a:rPr>
              <a:t>MANAGEMENT</a:t>
            </a:r>
            <a:r>
              <a:rPr dirty="0" sz="4400" spc="-505">
                <a:solidFill>
                  <a:srgbClr val="FFFFFF"/>
                </a:solidFill>
              </a:rPr>
              <a:t> </a:t>
            </a:r>
            <a:r>
              <a:rPr dirty="0" sz="4400" spc="-10">
                <a:solidFill>
                  <a:srgbClr val="FFFFFF"/>
                </a:solidFill>
              </a:rPr>
              <a:t>SYSTEM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609599" y="3686174"/>
            <a:ext cx="238125" cy="28575"/>
          </a:xfrm>
          <a:custGeom>
            <a:avLst/>
            <a:gdLst/>
            <a:ahLst/>
            <a:cxnLst/>
            <a:rect l="l" t="t" r="r" b="b"/>
            <a:pathLst>
              <a:path w="238125" h="28575">
                <a:moveTo>
                  <a:pt x="238124" y="28574"/>
                </a:moveTo>
                <a:lnTo>
                  <a:pt x="0" y="28574"/>
                </a:lnTo>
                <a:lnTo>
                  <a:pt x="0" y="0"/>
                </a:lnTo>
                <a:lnTo>
                  <a:pt x="238124" y="0"/>
                </a:lnTo>
                <a:lnTo>
                  <a:pt x="238124" y="28574"/>
                </a:lnTo>
                <a:close/>
              </a:path>
            </a:pathLst>
          </a:custGeom>
          <a:solidFill>
            <a:srgbClr val="7EA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96899" y="3165506"/>
            <a:ext cx="10747375" cy="1307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Airline</a:t>
            </a:r>
            <a:r>
              <a:rPr dirty="0" sz="1600" spc="-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Century Gothic"/>
                <a:cs typeface="Century Gothic"/>
              </a:rPr>
              <a:t>Reservation</a:t>
            </a:r>
            <a:r>
              <a:rPr dirty="0" sz="16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14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dirty="0" sz="16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Passenger</a:t>
            </a:r>
            <a:r>
              <a:rPr dirty="0" sz="160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125">
                <a:solidFill>
                  <a:srgbClr val="FFFFFF"/>
                </a:solidFill>
                <a:latin typeface="Century Gothic"/>
                <a:cs typeface="Century Gothic"/>
              </a:rPr>
              <a:t>Management</a:t>
            </a:r>
            <a:r>
              <a:rPr dirty="0" sz="160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System</a:t>
            </a:r>
            <a:endParaRPr sz="1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1600">
              <a:latin typeface="Century Gothic"/>
              <a:cs typeface="Century Gothic"/>
            </a:endParaRPr>
          </a:p>
          <a:p>
            <a:pPr marL="12700" marR="5080">
              <a:lnSpc>
                <a:spcPct val="113300"/>
              </a:lnSpc>
            </a:pP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Arya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45">
                <a:solidFill>
                  <a:srgbClr val="FFFFFF"/>
                </a:solidFill>
                <a:latin typeface="Century Gothic"/>
                <a:cs typeface="Century Gothic"/>
              </a:rPr>
              <a:t>College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Engineering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&amp;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60">
                <a:solidFill>
                  <a:srgbClr val="FFFFFF"/>
                </a:solidFill>
                <a:latin typeface="Century Gothic"/>
                <a:cs typeface="Century Gothic"/>
              </a:rPr>
              <a:t>IT,</a:t>
            </a:r>
            <a:r>
              <a:rPr dirty="0" sz="1600" spc="-5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Jaipur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·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Century Gothic"/>
                <a:cs typeface="Century Gothic"/>
              </a:rPr>
              <a:t>Department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40">
                <a:solidFill>
                  <a:srgbClr val="FFFFFF"/>
                </a:solidFill>
                <a:latin typeface="Century Gothic"/>
                <a:cs typeface="Century Gothic"/>
              </a:rPr>
              <a:t>Computer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Science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9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Engineering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·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Project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Mentor: </a:t>
            </a:r>
            <a:r>
              <a:rPr dirty="0" sz="1600" spc="50">
                <a:solidFill>
                  <a:srgbClr val="FFFFFF"/>
                </a:solidFill>
                <a:latin typeface="Century Gothic"/>
                <a:cs typeface="Century Gothic"/>
              </a:rPr>
              <a:t>Er.</a:t>
            </a:r>
            <a:r>
              <a:rPr dirty="0" sz="1600" spc="-5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65">
                <a:solidFill>
                  <a:srgbClr val="FFFFFF"/>
                </a:solidFill>
                <a:latin typeface="Century Gothic"/>
                <a:cs typeface="Century Gothic"/>
              </a:rPr>
              <a:t>Ram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Babu </a:t>
            </a:r>
            <a:r>
              <a:rPr dirty="0" sz="1600" spc="70">
                <a:solidFill>
                  <a:srgbClr val="FFFFFF"/>
                </a:solidFill>
                <a:latin typeface="Century Gothic"/>
                <a:cs typeface="Century Gothic"/>
              </a:rPr>
              <a:t>Buri</a:t>
            </a:r>
            <a:r>
              <a:rPr dirty="0" sz="1600" spc="-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·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50">
                <a:solidFill>
                  <a:srgbClr val="FFFFFF"/>
                </a:solidFill>
                <a:latin typeface="Century Gothic"/>
                <a:cs typeface="Century Gothic"/>
              </a:rPr>
              <a:t>Team</a:t>
            </a:r>
            <a:r>
              <a:rPr dirty="0" sz="1600" spc="-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50">
                <a:solidFill>
                  <a:srgbClr val="FFFFFF"/>
                </a:solidFill>
                <a:latin typeface="Century Gothic"/>
                <a:cs typeface="Century Gothic"/>
              </a:rPr>
              <a:t>SkyTech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FFFFFF"/>
                </a:solidFill>
                <a:latin typeface="Century Gothic"/>
                <a:cs typeface="Century Gothic"/>
              </a:rPr>
              <a:t>·</a:t>
            </a:r>
            <a:r>
              <a:rPr dirty="0" sz="1600" spc="-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-105">
                <a:solidFill>
                  <a:srgbClr val="FFFFFF"/>
                </a:solidFill>
                <a:latin typeface="Century Gothic"/>
                <a:cs typeface="Century Gothic"/>
              </a:rPr>
              <a:t>Academic</a:t>
            </a:r>
            <a:r>
              <a:rPr dirty="0" sz="1600" spc="-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65">
                <a:solidFill>
                  <a:srgbClr val="FFFFFF"/>
                </a:solidFill>
                <a:latin typeface="Century Gothic"/>
                <a:cs typeface="Century Gothic"/>
              </a:rPr>
              <a:t>Session:</a:t>
            </a:r>
            <a:r>
              <a:rPr dirty="0" sz="16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600" spc="110">
                <a:solidFill>
                  <a:srgbClr val="FFFFFF"/>
                </a:solidFill>
                <a:latin typeface="Century Gothic"/>
                <a:cs typeface="Century Gothic"/>
              </a:rPr>
              <a:t>2026–</a:t>
            </a:r>
            <a:r>
              <a:rPr dirty="0" sz="1600" spc="-20">
                <a:solidFill>
                  <a:srgbClr val="FFFFFF"/>
                </a:solidFill>
                <a:latin typeface="Century Gothic"/>
                <a:cs typeface="Century Gothic"/>
              </a:rPr>
              <a:t>2027</a:t>
            </a:r>
            <a:endParaRPr sz="1600">
              <a:latin typeface="Century Gothic"/>
              <a:cs typeface="Century Gothic"/>
            </a:endParaRPr>
          </a:p>
        </p:txBody>
      </p:sp>
      <p:pic>
        <p:nvPicPr>
          <p:cNvPr id="8" name="object 8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1947862"/>
            <a:ext cx="447675" cy="266700"/>
          </a:xfrm>
          <a:custGeom>
            <a:avLst/>
            <a:gdLst/>
            <a:ahLst/>
            <a:cxnLst/>
            <a:rect l="l" t="t" r="r" b="b"/>
            <a:pathLst>
              <a:path w="447675" h="266700">
                <a:moveTo>
                  <a:pt x="0" y="195262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2039" y="31748"/>
                </a:lnTo>
                <a:lnTo>
                  <a:pt x="14645" y="27848"/>
                </a:lnTo>
                <a:lnTo>
                  <a:pt x="17606" y="24240"/>
                </a:lnTo>
                <a:lnTo>
                  <a:pt x="20923" y="20923"/>
                </a:lnTo>
                <a:lnTo>
                  <a:pt x="24240" y="17606"/>
                </a:lnTo>
                <a:lnTo>
                  <a:pt x="62101" y="457"/>
                </a:lnTo>
                <a:lnTo>
                  <a:pt x="71437" y="0"/>
                </a:lnTo>
                <a:lnTo>
                  <a:pt x="376237" y="0"/>
                </a:lnTo>
                <a:lnTo>
                  <a:pt x="415925" y="12039"/>
                </a:lnTo>
                <a:lnTo>
                  <a:pt x="419826" y="14645"/>
                </a:lnTo>
                <a:lnTo>
                  <a:pt x="423434" y="17606"/>
                </a:lnTo>
                <a:lnTo>
                  <a:pt x="426751" y="20923"/>
                </a:lnTo>
                <a:lnTo>
                  <a:pt x="430068" y="24240"/>
                </a:lnTo>
                <a:lnTo>
                  <a:pt x="433029" y="27848"/>
                </a:lnTo>
                <a:lnTo>
                  <a:pt x="435635" y="31748"/>
                </a:lnTo>
                <a:lnTo>
                  <a:pt x="438241" y="35648"/>
                </a:lnTo>
                <a:lnTo>
                  <a:pt x="447674" y="71437"/>
                </a:lnTo>
                <a:lnTo>
                  <a:pt x="447674" y="195262"/>
                </a:lnTo>
                <a:lnTo>
                  <a:pt x="447674" y="199953"/>
                </a:lnTo>
                <a:lnTo>
                  <a:pt x="447217" y="204598"/>
                </a:lnTo>
                <a:lnTo>
                  <a:pt x="446302" y="209199"/>
                </a:lnTo>
                <a:lnTo>
                  <a:pt x="445387" y="213799"/>
                </a:lnTo>
                <a:lnTo>
                  <a:pt x="435635" y="234950"/>
                </a:lnTo>
                <a:lnTo>
                  <a:pt x="433029" y="238850"/>
                </a:lnTo>
                <a:lnTo>
                  <a:pt x="430068" y="242459"/>
                </a:lnTo>
                <a:lnTo>
                  <a:pt x="426751" y="245776"/>
                </a:lnTo>
                <a:lnTo>
                  <a:pt x="423434" y="249093"/>
                </a:lnTo>
                <a:lnTo>
                  <a:pt x="419826" y="252054"/>
                </a:lnTo>
                <a:lnTo>
                  <a:pt x="415925" y="254660"/>
                </a:lnTo>
                <a:lnTo>
                  <a:pt x="412025" y="257266"/>
                </a:lnTo>
                <a:lnTo>
                  <a:pt x="407908" y="259466"/>
                </a:lnTo>
                <a:lnTo>
                  <a:pt x="403575" y="261261"/>
                </a:lnTo>
                <a:lnTo>
                  <a:pt x="399241" y="263057"/>
                </a:lnTo>
                <a:lnTo>
                  <a:pt x="394774" y="264412"/>
                </a:lnTo>
                <a:lnTo>
                  <a:pt x="390174" y="265327"/>
                </a:lnTo>
                <a:lnTo>
                  <a:pt x="385573" y="266242"/>
                </a:lnTo>
                <a:lnTo>
                  <a:pt x="380928" y="266699"/>
                </a:lnTo>
                <a:lnTo>
                  <a:pt x="376237" y="266699"/>
                </a:lnTo>
                <a:lnTo>
                  <a:pt x="71437" y="266699"/>
                </a:lnTo>
                <a:lnTo>
                  <a:pt x="66746" y="266699"/>
                </a:lnTo>
                <a:lnTo>
                  <a:pt x="62101" y="266242"/>
                </a:lnTo>
                <a:lnTo>
                  <a:pt x="57500" y="265327"/>
                </a:lnTo>
                <a:lnTo>
                  <a:pt x="52900" y="264412"/>
                </a:lnTo>
                <a:lnTo>
                  <a:pt x="48433" y="263057"/>
                </a:lnTo>
                <a:lnTo>
                  <a:pt x="44099" y="261261"/>
                </a:lnTo>
                <a:lnTo>
                  <a:pt x="39765" y="259466"/>
                </a:lnTo>
                <a:lnTo>
                  <a:pt x="35648" y="257266"/>
                </a:lnTo>
                <a:lnTo>
                  <a:pt x="31748" y="254660"/>
                </a:lnTo>
                <a:lnTo>
                  <a:pt x="27848" y="252054"/>
                </a:lnTo>
                <a:lnTo>
                  <a:pt x="3642" y="218266"/>
                </a:lnTo>
                <a:lnTo>
                  <a:pt x="0" y="199953"/>
                </a:lnTo>
                <a:lnTo>
                  <a:pt x="0" y="195262"/>
                </a:lnTo>
                <a:close/>
              </a:path>
            </a:pathLst>
          </a:custGeom>
          <a:ln w="9524">
            <a:solidFill>
              <a:srgbClr val="7EA6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1199" y="1958403"/>
            <a:ext cx="23812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105" b="1">
                <a:solidFill>
                  <a:srgbClr val="7EA6F1"/>
                </a:solidFill>
                <a:latin typeface="Century Gothic"/>
                <a:cs typeface="Century Gothic"/>
              </a:rPr>
              <a:t>02</a:t>
            </a:r>
            <a:endParaRPr sz="125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96899" y="2279681"/>
            <a:ext cx="10439400" cy="543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5"/>
              <a:t>Manual</a:t>
            </a:r>
            <a:r>
              <a:rPr dirty="0" spc="-409"/>
              <a:t> </a:t>
            </a:r>
            <a:r>
              <a:rPr dirty="0" spc="-180"/>
              <a:t>reservation</a:t>
            </a:r>
            <a:r>
              <a:rPr dirty="0" spc="-405"/>
              <a:t> </a:t>
            </a:r>
            <a:r>
              <a:rPr dirty="0" spc="-240"/>
              <a:t>processes</a:t>
            </a:r>
            <a:r>
              <a:rPr dirty="0" spc="-409"/>
              <a:t> </a:t>
            </a:r>
            <a:r>
              <a:rPr dirty="0" spc="-290"/>
              <a:t>create</a:t>
            </a:r>
            <a:r>
              <a:rPr dirty="0" spc="-405"/>
              <a:t> </a:t>
            </a:r>
            <a:r>
              <a:rPr dirty="0" spc="-254"/>
              <a:t>fragmented</a:t>
            </a:r>
            <a:r>
              <a:rPr dirty="0" spc="-409"/>
              <a:t> </a:t>
            </a:r>
            <a:r>
              <a:rPr dirty="0" spc="-125"/>
              <a:t>records</a:t>
            </a:r>
          </a:p>
        </p:txBody>
      </p:sp>
      <p:sp>
        <p:nvSpPr>
          <p:cNvPr id="5" name="object 5"/>
          <p:cNvSpPr/>
          <p:nvPr/>
        </p:nvSpPr>
        <p:spPr>
          <a:xfrm>
            <a:off x="609599" y="3086099"/>
            <a:ext cx="238125" cy="28575"/>
          </a:xfrm>
          <a:custGeom>
            <a:avLst/>
            <a:gdLst/>
            <a:ahLst/>
            <a:cxnLst/>
            <a:rect l="l" t="t" r="r" b="b"/>
            <a:pathLst>
              <a:path w="238125" h="28575">
                <a:moveTo>
                  <a:pt x="238124" y="28574"/>
                </a:moveTo>
                <a:lnTo>
                  <a:pt x="0" y="28574"/>
                </a:lnTo>
                <a:lnTo>
                  <a:pt x="0" y="0"/>
                </a:lnTo>
                <a:lnTo>
                  <a:pt x="238124" y="0"/>
                </a:lnTo>
                <a:lnTo>
                  <a:pt x="238124" y="28574"/>
                </a:lnTo>
                <a:close/>
              </a:path>
            </a:pathLst>
          </a:custGeom>
          <a:solidFill>
            <a:srgbClr val="7EA6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4" y="3438524"/>
            <a:ext cx="66675" cy="666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21940" y="3295008"/>
            <a:ext cx="4877435" cy="11398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75"/>
              </a:spcBef>
            </a:pP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SkyTech Airlines </a:t>
            </a:r>
            <a:r>
              <a:rPr dirty="0" sz="1600" spc="105">
                <a:solidFill>
                  <a:srgbClr val="1D294A"/>
                </a:solidFill>
                <a:latin typeface="Century Gothic"/>
                <a:cs typeface="Century Gothic"/>
              </a:rPr>
              <a:t>is</a:t>
            </a:r>
            <a:r>
              <a:rPr dirty="0" sz="1600" spc="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65">
                <a:solidFill>
                  <a:srgbClr val="1D294A"/>
                </a:solidFill>
                <a:latin typeface="Century Gothic"/>
                <a:cs typeface="Century Gothic"/>
              </a:rPr>
              <a:t>proposed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 as </a:t>
            </a:r>
            <a:r>
              <a:rPr dirty="0" sz="1600" spc="-215">
                <a:solidFill>
                  <a:srgbClr val="1D294A"/>
                </a:solidFill>
                <a:latin typeface="Century Gothic"/>
                <a:cs typeface="Century Gothic"/>
              </a:rPr>
              <a:t>a</a:t>
            </a:r>
            <a:r>
              <a:rPr dirty="0" sz="1600" spc="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40">
                <a:solidFill>
                  <a:srgbClr val="1D294A"/>
                </a:solidFill>
                <a:latin typeface="Century Gothic"/>
                <a:cs typeface="Century Gothic"/>
              </a:rPr>
              <a:t>centralized 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Java-</a:t>
            </a:r>
            <a:r>
              <a:rPr dirty="0" sz="1600" spc="-90">
                <a:solidFill>
                  <a:srgbClr val="1D294A"/>
                </a:solidFill>
                <a:latin typeface="Century Gothic"/>
                <a:cs typeface="Century Gothic"/>
              </a:rPr>
              <a:t>based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85">
                <a:solidFill>
                  <a:srgbClr val="1D294A"/>
                </a:solidFill>
                <a:latin typeface="Century Gothic"/>
                <a:cs typeface="Century Gothic"/>
              </a:rPr>
              <a:t>web</a:t>
            </a:r>
            <a:r>
              <a:rPr dirty="0" sz="160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80">
                <a:solidFill>
                  <a:srgbClr val="1D294A"/>
                </a:solidFill>
                <a:latin typeface="Century Gothic"/>
                <a:cs typeface="Century Gothic"/>
              </a:rPr>
              <a:t>application</a:t>
            </a:r>
            <a:r>
              <a:rPr dirty="0" sz="160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for</a:t>
            </a:r>
            <a:r>
              <a:rPr dirty="0" sz="160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flight </a:t>
            </a:r>
            <a:r>
              <a:rPr dirty="0" sz="1600" spc="-45">
                <a:solidFill>
                  <a:srgbClr val="1D294A"/>
                </a:solidFill>
                <a:latin typeface="Century Gothic"/>
                <a:cs typeface="Century Gothic"/>
              </a:rPr>
              <a:t>search,</a:t>
            </a:r>
            <a:r>
              <a:rPr dirty="0" sz="1600" spc="-4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passenger </a:t>
            </a:r>
            <a:r>
              <a:rPr dirty="0" sz="1600" spc="-45">
                <a:solidFill>
                  <a:srgbClr val="1D294A"/>
                </a:solidFill>
                <a:latin typeface="Century Gothic"/>
                <a:cs typeface="Century Gothic"/>
              </a:rPr>
              <a:t>information,</a:t>
            </a:r>
            <a:r>
              <a:rPr dirty="0" sz="1600" spc="-2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35">
                <a:solidFill>
                  <a:srgbClr val="1D294A"/>
                </a:solidFill>
                <a:latin typeface="Century Gothic"/>
                <a:cs typeface="Century Gothic"/>
              </a:rPr>
              <a:t>bookings,</a:t>
            </a:r>
            <a:r>
              <a:rPr dirty="0" sz="1600" spc="-2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tickets,</a:t>
            </a:r>
            <a:r>
              <a:rPr dirty="0" sz="1600" spc="-2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60">
                <a:solidFill>
                  <a:srgbClr val="1D294A"/>
                </a:solidFill>
                <a:latin typeface="Century Gothic"/>
                <a:cs typeface="Century Gothic"/>
              </a:rPr>
              <a:t>cancellations,</a:t>
            </a:r>
            <a:r>
              <a:rPr dirty="0" sz="1600" spc="-2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25">
                <a:solidFill>
                  <a:srgbClr val="1D294A"/>
                </a:solidFill>
                <a:latin typeface="Century Gothic"/>
                <a:cs typeface="Century Gothic"/>
              </a:rPr>
              <a:t>and </a:t>
            </a:r>
            <a:r>
              <a:rPr dirty="0" sz="1600" spc="-40">
                <a:solidFill>
                  <a:srgbClr val="1D294A"/>
                </a:solidFill>
                <a:latin typeface="Century Gothic"/>
                <a:cs typeface="Century Gothic"/>
              </a:rPr>
              <a:t>administrative</a:t>
            </a:r>
            <a:r>
              <a:rPr dirty="0" sz="1600" spc="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operations</a:t>
            </a:r>
            <a:endParaRPr sz="1600">
              <a:latin typeface="Century Gothic"/>
              <a:cs typeface="Century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6023" y="3438524"/>
            <a:ext cx="66675" cy="666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560740" y="3295008"/>
            <a:ext cx="5019040" cy="11398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75"/>
              </a:spcBef>
            </a:pPr>
            <a:r>
              <a:rPr dirty="0" sz="1600" spc="-25">
                <a:solidFill>
                  <a:srgbClr val="1D294A"/>
                </a:solidFill>
                <a:latin typeface="Century Gothic"/>
                <a:cs typeface="Century Gothic"/>
              </a:rPr>
              <a:t>Problems</a:t>
            </a:r>
            <a:r>
              <a:rPr dirty="0" sz="16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50">
                <a:solidFill>
                  <a:srgbClr val="1D294A"/>
                </a:solidFill>
                <a:latin typeface="Century Gothic"/>
                <a:cs typeface="Century Gothic"/>
              </a:rPr>
              <a:t>addressed: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25">
                <a:solidFill>
                  <a:srgbClr val="1D294A"/>
                </a:solidFill>
                <a:latin typeface="Century Gothic"/>
                <a:cs typeface="Century Gothic"/>
              </a:rPr>
              <a:t>manual</a:t>
            </a:r>
            <a:r>
              <a:rPr dirty="0" sz="16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70">
                <a:solidFill>
                  <a:srgbClr val="1D294A"/>
                </a:solidFill>
                <a:latin typeface="Century Gothic"/>
                <a:cs typeface="Century Gothic"/>
              </a:rPr>
              <a:t>booking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4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6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passenger </a:t>
            </a:r>
            <a:r>
              <a:rPr dirty="0" sz="1600" spc="-20">
                <a:solidFill>
                  <a:srgbClr val="1D294A"/>
                </a:solidFill>
                <a:latin typeface="Century Gothic"/>
                <a:cs typeface="Century Gothic"/>
              </a:rPr>
              <a:t>records;</a:t>
            </a:r>
            <a:r>
              <a:rPr dirty="0" sz="1600" spc="-4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90">
                <a:solidFill>
                  <a:srgbClr val="1D294A"/>
                </a:solidFill>
                <a:latin typeface="Century Gothic"/>
                <a:cs typeface="Century Gothic"/>
              </a:rPr>
              <a:t>duplicate</a:t>
            </a:r>
            <a:r>
              <a:rPr dirty="0" sz="16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or</a:t>
            </a:r>
            <a:r>
              <a:rPr dirty="0" sz="1600" spc="-2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inconsistent</a:t>
            </a:r>
            <a:r>
              <a:rPr dirty="0" sz="1600" spc="-2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14">
                <a:solidFill>
                  <a:srgbClr val="1D294A"/>
                </a:solidFill>
                <a:latin typeface="Century Gothic"/>
                <a:cs typeface="Century Gothic"/>
              </a:rPr>
              <a:t>data;</a:t>
            </a:r>
            <a:r>
              <a:rPr dirty="0" sz="16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difficult</a:t>
            </a:r>
            <a:r>
              <a:rPr dirty="0" sz="1600" spc="-2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flight </a:t>
            </a:r>
            <a:r>
              <a:rPr dirty="0" sz="1600" spc="-14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60">
                <a:solidFill>
                  <a:srgbClr val="1D294A"/>
                </a:solidFill>
                <a:latin typeface="Century Gothic"/>
                <a:cs typeface="Century Gothic"/>
              </a:rPr>
              <a:t>schedule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25">
                <a:solidFill>
                  <a:srgbClr val="1D294A"/>
                </a:solidFill>
                <a:latin typeface="Century Gothic"/>
                <a:cs typeface="Century Gothic"/>
              </a:rPr>
              <a:t>searches;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70">
                <a:solidFill>
                  <a:srgbClr val="1D294A"/>
                </a:solidFill>
                <a:latin typeface="Century Gothic"/>
                <a:cs typeface="Century Gothic"/>
              </a:rPr>
              <a:t>booking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4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60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cancellation 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errors;</a:t>
            </a:r>
            <a:r>
              <a:rPr dirty="0" sz="1600" spc="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45">
                <a:solidFill>
                  <a:srgbClr val="1D294A"/>
                </a:solidFill>
                <a:latin typeface="Century Gothic"/>
                <a:cs typeface="Century Gothic"/>
              </a:rPr>
              <a:t>limited</a:t>
            </a:r>
            <a:r>
              <a:rPr dirty="0" sz="1600" spc="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40">
                <a:solidFill>
                  <a:srgbClr val="1D294A"/>
                </a:solidFill>
                <a:latin typeface="Century Gothic"/>
                <a:cs typeface="Century Gothic"/>
              </a:rPr>
              <a:t>administrative</a:t>
            </a:r>
            <a:r>
              <a:rPr dirty="0" sz="1600" spc="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visibility</a:t>
            </a:r>
            <a:endParaRPr sz="1600">
              <a:latin typeface="Century Gothic"/>
              <a:cs typeface="Century Gothic"/>
            </a:endParaRPr>
          </a:p>
        </p:txBody>
      </p:sp>
      <p:pic>
        <p:nvPicPr>
          <p:cNvPr id="10" name="object 10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304799"/>
            <a:ext cx="466725" cy="285750"/>
          </a:xfrm>
          <a:custGeom>
            <a:avLst/>
            <a:gdLst/>
            <a:ahLst/>
            <a:cxnLst/>
            <a:rect l="l" t="t" r="r" b="b"/>
            <a:pathLst>
              <a:path w="466725" h="285750">
                <a:moveTo>
                  <a:pt x="395528" y="285749"/>
                </a:moveTo>
                <a:lnTo>
                  <a:pt x="71196" y="285749"/>
                </a:lnTo>
                <a:lnTo>
                  <a:pt x="66241" y="285261"/>
                </a:lnTo>
                <a:lnTo>
                  <a:pt x="29705" y="270128"/>
                </a:lnTo>
                <a:lnTo>
                  <a:pt x="3885" y="234087"/>
                </a:lnTo>
                <a:lnTo>
                  <a:pt x="0" y="214553"/>
                </a:lnTo>
                <a:lnTo>
                  <a:pt x="0" y="2095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395528" y="0"/>
                </a:lnTo>
                <a:lnTo>
                  <a:pt x="437019" y="15621"/>
                </a:lnTo>
                <a:lnTo>
                  <a:pt x="462839" y="51661"/>
                </a:lnTo>
                <a:lnTo>
                  <a:pt x="466725" y="71196"/>
                </a:lnTo>
                <a:lnTo>
                  <a:pt x="466725" y="214553"/>
                </a:lnTo>
                <a:lnTo>
                  <a:pt x="451103" y="256044"/>
                </a:lnTo>
                <a:lnTo>
                  <a:pt x="415062" y="281864"/>
                </a:lnTo>
                <a:lnTo>
                  <a:pt x="400483" y="285261"/>
                </a:lnTo>
                <a:lnTo>
                  <a:pt x="395528" y="285749"/>
                </a:lnTo>
                <a:close/>
              </a:path>
            </a:pathLst>
          </a:custGeom>
          <a:solidFill>
            <a:srgbClr val="D0DE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1199" y="329628"/>
            <a:ext cx="24828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145" b="1">
                <a:solidFill>
                  <a:srgbClr val="1D294A"/>
                </a:solidFill>
                <a:latin typeface="Century Gothic"/>
                <a:cs typeface="Century Gothic"/>
              </a:rPr>
              <a:t>03</a:t>
            </a:r>
            <a:endParaRPr sz="125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740"/>
              </a:spcBef>
            </a:pPr>
            <a:r>
              <a:rPr dirty="0" spc="-165"/>
              <a:t>Five</a:t>
            </a:r>
            <a:r>
              <a:rPr dirty="0" spc="-415"/>
              <a:t> </a:t>
            </a:r>
            <a:r>
              <a:rPr dirty="0" spc="-265"/>
              <a:t>modules</a:t>
            </a:r>
            <a:r>
              <a:rPr dirty="0" spc="-415"/>
              <a:t> </a:t>
            </a:r>
            <a:r>
              <a:rPr dirty="0" spc="-50"/>
              <a:t>turn</a:t>
            </a:r>
            <a:r>
              <a:rPr dirty="0" spc="-409"/>
              <a:t> </a:t>
            </a:r>
            <a:r>
              <a:rPr dirty="0" spc="-180"/>
              <a:t>reservation</a:t>
            </a:r>
            <a:r>
              <a:rPr dirty="0" spc="-415"/>
              <a:t> </a:t>
            </a:r>
            <a:r>
              <a:rPr dirty="0" spc="-114"/>
              <a:t>tasks</a:t>
            </a:r>
            <a:r>
              <a:rPr dirty="0" spc="-409"/>
              <a:t> </a:t>
            </a:r>
            <a:r>
              <a:rPr dirty="0" spc="-145"/>
              <a:t>into</a:t>
            </a:r>
            <a:r>
              <a:rPr dirty="0" spc="-415"/>
              <a:t> </a:t>
            </a:r>
            <a:r>
              <a:rPr dirty="0" spc="-340"/>
              <a:t>one</a:t>
            </a:r>
            <a:r>
              <a:rPr dirty="0" spc="-409"/>
              <a:t> </a:t>
            </a:r>
            <a:r>
              <a:rPr dirty="0" spc="-365"/>
              <a:t>connected </a:t>
            </a:r>
            <a:r>
              <a:rPr dirty="0" spc="-40"/>
              <a:t>system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6899" y="1828863"/>
            <a:ext cx="68408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30">
                <a:solidFill>
                  <a:srgbClr val="B4C2EC"/>
                </a:solidFill>
                <a:latin typeface="Century Gothic"/>
                <a:cs typeface="Century Gothic"/>
              </a:rPr>
              <a:t>Connected</a:t>
            </a:r>
            <a:r>
              <a:rPr dirty="0" sz="2000" spc="10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B4C2EC"/>
                </a:solidFill>
                <a:latin typeface="Century Gothic"/>
                <a:cs typeface="Century Gothic"/>
              </a:rPr>
              <a:t>responsibilities</a:t>
            </a:r>
            <a:r>
              <a:rPr dirty="0" sz="2000" spc="15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B4C2EC"/>
                </a:solidFill>
                <a:latin typeface="Century Gothic"/>
                <a:cs typeface="Century Gothic"/>
              </a:rPr>
              <a:t>across</a:t>
            </a:r>
            <a:r>
              <a:rPr dirty="0" sz="2000" spc="10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 spc="-20">
                <a:solidFill>
                  <a:srgbClr val="B4C2EC"/>
                </a:solidFill>
                <a:latin typeface="Century Gothic"/>
                <a:cs typeface="Century Gothic"/>
              </a:rPr>
              <a:t>the</a:t>
            </a:r>
            <a:r>
              <a:rPr dirty="0" sz="2000" spc="15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 spc="-20">
                <a:solidFill>
                  <a:srgbClr val="B4C2EC"/>
                </a:solidFill>
                <a:latin typeface="Century Gothic"/>
                <a:cs typeface="Century Gothic"/>
              </a:rPr>
              <a:t>reservation</a:t>
            </a:r>
            <a:r>
              <a:rPr dirty="0" sz="2000" spc="10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B4C2EC"/>
                </a:solidFill>
                <a:latin typeface="Century Gothic"/>
                <a:cs typeface="Century Gothic"/>
              </a:rPr>
              <a:t>journey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9599" y="2371724"/>
            <a:ext cx="5410200" cy="2095500"/>
            <a:chOff x="609599" y="2371724"/>
            <a:chExt cx="5410200" cy="2095500"/>
          </a:xfrm>
        </p:grpSpPr>
        <p:sp>
          <p:nvSpPr>
            <p:cNvPr id="7" name="object 7"/>
            <p:cNvSpPr/>
            <p:nvPr/>
          </p:nvSpPr>
          <p:spPr>
            <a:xfrm>
              <a:off x="609599" y="2371724"/>
              <a:ext cx="5410200" cy="2095500"/>
            </a:xfrm>
            <a:custGeom>
              <a:avLst/>
              <a:gdLst/>
              <a:ahLst/>
              <a:cxnLst/>
              <a:rect l="l" t="t" r="r" b="b"/>
              <a:pathLst>
                <a:path w="5410200" h="2095500">
                  <a:moveTo>
                    <a:pt x="5315270" y="2095499"/>
                  </a:moveTo>
                  <a:lnTo>
                    <a:pt x="94928" y="2095499"/>
                  </a:lnTo>
                  <a:lnTo>
                    <a:pt x="88321" y="2094848"/>
                  </a:lnTo>
                  <a:lnTo>
                    <a:pt x="50700" y="2082082"/>
                  </a:lnTo>
                  <a:lnTo>
                    <a:pt x="20829" y="2055892"/>
                  </a:lnTo>
                  <a:lnTo>
                    <a:pt x="3253" y="2020263"/>
                  </a:lnTo>
                  <a:lnTo>
                    <a:pt x="0" y="2000571"/>
                  </a:lnTo>
                  <a:lnTo>
                    <a:pt x="0" y="1993899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8" y="0"/>
                  </a:lnTo>
                  <a:lnTo>
                    <a:pt x="5315270" y="0"/>
                  </a:lnTo>
                  <a:lnTo>
                    <a:pt x="5353642" y="10286"/>
                  </a:lnTo>
                  <a:lnTo>
                    <a:pt x="5385157" y="34474"/>
                  </a:lnTo>
                  <a:lnTo>
                    <a:pt x="5405017" y="68882"/>
                  </a:lnTo>
                  <a:lnTo>
                    <a:pt x="5410199" y="94928"/>
                  </a:lnTo>
                  <a:lnTo>
                    <a:pt x="5410199" y="2000571"/>
                  </a:lnTo>
                  <a:lnTo>
                    <a:pt x="5399911" y="2038943"/>
                  </a:lnTo>
                  <a:lnTo>
                    <a:pt x="5375723" y="2070458"/>
                  </a:lnTo>
                  <a:lnTo>
                    <a:pt x="5341316" y="2090318"/>
                  </a:lnTo>
                  <a:lnTo>
                    <a:pt x="5321877" y="2094848"/>
                  </a:lnTo>
                  <a:lnTo>
                    <a:pt x="5315270" y="2095499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38199" y="2600324"/>
              <a:ext cx="504825" cy="514350"/>
            </a:xfrm>
            <a:custGeom>
              <a:avLst/>
              <a:gdLst/>
              <a:ahLst/>
              <a:cxnLst/>
              <a:rect l="l" t="t" r="r" b="b"/>
              <a:pathLst>
                <a:path w="504825" h="514350">
                  <a:moveTo>
                    <a:pt x="504824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514349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3157220"/>
            <a:ext cx="486219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Passenger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registration,</a:t>
            </a:r>
            <a:r>
              <a:rPr dirty="0" sz="1800" spc="-7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65">
                <a:solidFill>
                  <a:srgbClr val="1D294A"/>
                </a:solidFill>
                <a:latin typeface="Century Gothic"/>
                <a:cs typeface="Century Gothic"/>
              </a:rPr>
              <a:t>authentication,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profile </a:t>
            </a:r>
            <a:r>
              <a:rPr dirty="0" sz="1800" spc="-130">
                <a:solidFill>
                  <a:srgbClr val="1D294A"/>
                </a:solidFill>
                <a:latin typeface="Century Gothic"/>
                <a:cs typeface="Century Gothic"/>
              </a:rPr>
              <a:t>management,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5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800" spc="2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role-</a:t>
            </a:r>
            <a:r>
              <a:rPr dirty="0" sz="1800" spc="-95">
                <a:solidFill>
                  <a:srgbClr val="1D294A"/>
                </a:solidFill>
                <a:latin typeface="Century Gothic"/>
                <a:cs typeface="Century Gothic"/>
              </a:rPr>
              <a:t>based</a:t>
            </a:r>
            <a:r>
              <a:rPr dirty="0" sz="1800" spc="2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access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72199" y="2371724"/>
            <a:ext cx="5410200" cy="2095500"/>
            <a:chOff x="6172199" y="2371724"/>
            <a:chExt cx="5410200" cy="2095500"/>
          </a:xfrm>
        </p:grpSpPr>
        <p:sp>
          <p:nvSpPr>
            <p:cNvPr id="11" name="object 11"/>
            <p:cNvSpPr/>
            <p:nvPr/>
          </p:nvSpPr>
          <p:spPr>
            <a:xfrm>
              <a:off x="6172199" y="2371724"/>
              <a:ext cx="5410200" cy="2095500"/>
            </a:xfrm>
            <a:custGeom>
              <a:avLst/>
              <a:gdLst/>
              <a:ahLst/>
              <a:cxnLst/>
              <a:rect l="l" t="t" r="r" b="b"/>
              <a:pathLst>
                <a:path w="5410200" h="2095500">
                  <a:moveTo>
                    <a:pt x="5315270" y="2095499"/>
                  </a:moveTo>
                  <a:lnTo>
                    <a:pt x="94928" y="2095499"/>
                  </a:lnTo>
                  <a:lnTo>
                    <a:pt x="88321" y="2094848"/>
                  </a:lnTo>
                  <a:lnTo>
                    <a:pt x="50700" y="2082082"/>
                  </a:lnTo>
                  <a:lnTo>
                    <a:pt x="20828" y="2055892"/>
                  </a:lnTo>
                  <a:lnTo>
                    <a:pt x="3252" y="2020263"/>
                  </a:lnTo>
                  <a:lnTo>
                    <a:pt x="0" y="2000571"/>
                  </a:lnTo>
                  <a:lnTo>
                    <a:pt x="0" y="1993899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4" y="25040"/>
                  </a:lnTo>
                  <a:lnTo>
                    <a:pt x="68881" y="5180"/>
                  </a:lnTo>
                  <a:lnTo>
                    <a:pt x="94928" y="0"/>
                  </a:lnTo>
                  <a:lnTo>
                    <a:pt x="5315270" y="0"/>
                  </a:lnTo>
                  <a:lnTo>
                    <a:pt x="5353642" y="10286"/>
                  </a:lnTo>
                  <a:lnTo>
                    <a:pt x="5385158" y="34474"/>
                  </a:lnTo>
                  <a:lnTo>
                    <a:pt x="5405017" y="68882"/>
                  </a:lnTo>
                  <a:lnTo>
                    <a:pt x="5410198" y="94928"/>
                  </a:lnTo>
                  <a:lnTo>
                    <a:pt x="5410198" y="2000571"/>
                  </a:lnTo>
                  <a:lnTo>
                    <a:pt x="5399911" y="2038943"/>
                  </a:lnTo>
                  <a:lnTo>
                    <a:pt x="5375723" y="2070458"/>
                  </a:lnTo>
                  <a:lnTo>
                    <a:pt x="5341315" y="2090318"/>
                  </a:lnTo>
                  <a:lnTo>
                    <a:pt x="5321877" y="2094848"/>
                  </a:lnTo>
                  <a:lnTo>
                    <a:pt x="5315270" y="2095499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400799" y="2600324"/>
              <a:ext cx="504825" cy="514350"/>
            </a:xfrm>
            <a:custGeom>
              <a:avLst/>
              <a:gdLst/>
              <a:ahLst/>
              <a:cxnLst/>
              <a:rect l="l" t="t" r="r" b="b"/>
              <a:pathLst>
                <a:path w="504825" h="514350">
                  <a:moveTo>
                    <a:pt x="504824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514349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388099" y="3157220"/>
            <a:ext cx="4750435" cy="958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ct val="112799"/>
              </a:lnSpc>
              <a:spcBef>
                <a:spcPts val="135"/>
              </a:spcBef>
            </a:pP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Flight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search</a:t>
            </a:r>
            <a:r>
              <a:rPr dirty="0" sz="180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by</a:t>
            </a:r>
            <a:r>
              <a:rPr dirty="0" sz="1800" spc="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origin,</a:t>
            </a:r>
            <a:r>
              <a:rPr dirty="0" sz="1800" spc="-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40">
                <a:solidFill>
                  <a:srgbClr val="1D294A"/>
                </a:solidFill>
                <a:latin typeface="Century Gothic"/>
                <a:cs typeface="Century Gothic"/>
              </a:rPr>
              <a:t>destination,</a:t>
            </a:r>
            <a:r>
              <a:rPr dirty="0" sz="1800" spc="-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65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800" spc="4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75">
                <a:solidFill>
                  <a:srgbClr val="1D294A"/>
                </a:solidFill>
                <a:latin typeface="Century Gothic"/>
                <a:cs typeface="Century Gothic"/>
              </a:rPr>
              <a:t>date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with</a:t>
            </a:r>
            <a:r>
              <a:rPr dirty="0" sz="1800" spc="4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schedules,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fares,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65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800" spc="4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85">
                <a:solidFill>
                  <a:srgbClr val="1D294A"/>
                </a:solidFill>
                <a:latin typeface="Century Gothic"/>
                <a:cs typeface="Century Gothic"/>
              </a:rPr>
              <a:t>database-</a:t>
            </a:r>
            <a:r>
              <a:rPr dirty="0" sz="1800" spc="-45">
                <a:solidFill>
                  <a:srgbClr val="1D294A"/>
                </a:solidFill>
                <a:latin typeface="Century Gothic"/>
                <a:cs typeface="Century Gothic"/>
              </a:rPr>
              <a:t>derived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availability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9599" y="4619624"/>
            <a:ext cx="5410200" cy="2085975"/>
            <a:chOff x="609599" y="4619624"/>
            <a:chExt cx="5410200" cy="2085975"/>
          </a:xfrm>
        </p:grpSpPr>
        <p:sp>
          <p:nvSpPr>
            <p:cNvPr id="15" name="object 15"/>
            <p:cNvSpPr/>
            <p:nvPr/>
          </p:nvSpPr>
          <p:spPr>
            <a:xfrm>
              <a:off x="609599" y="4619624"/>
              <a:ext cx="5410200" cy="2085975"/>
            </a:xfrm>
            <a:custGeom>
              <a:avLst/>
              <a:gdLst/>
              <a:ahLst/>
              <a:cxnLst/>
              <a:rect l="l" t="t" r="r" b="b"/>
              <a:pathLst>
                <a:path w="5410200" h="2085975">
                  <a:moveTo>
                    <a:pt x="5315270" y="2085974"/>
                  </a:moveTo>
                  <a:lnTo>
                    <a:pt x="94928" y="2085974"/>
                  </a:lnTo>
                  <a:lnTo>
                    <a:pt x="88321" y="2085323"/>
                  </a:lnTo>
                  <a:lnTo>
                    <a:pt x="50700" y="2072557"/>
                  </a:lnTo>
                  <a:lnTo>
                    <a:pt x="20829" y="2046367"/>
                  </a:lnTo>
                  <a:lnTo>
                    <a:pt x="3253" y="2010737"/>
                  </a:lnTo>
                  <a:lnTo>
                    <a:pt x="0" y="1991045"/>
                  </a:lnTo>
                  <a:lnTo>
                    <a:pt x="0" y="1984374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8" y="0"/>
                  </a:lnTo>
                  <a:lnTo>
                    <a:pt x="5315270" y="0"/>
                  </a:lnTo>
                  <a:lnTo>
                    <a:pt x="5353642" y="10286"/>
                  </a:lnTo>
                  <a:lnTo>
                    <a:pt x="5385157" y="34474"/>
                  </a:lnTo>
                  <a:lnTo>
                    <a:pt x="5405017" y="68881"/>
                  </a:lnTo>
                  <a:lnTo>
                    <a:pt x="5410199" y="94928"/>
                  </a:lnTo>
                  <a:lnTo>
                    <a:pt x="5410199" y="1991045"/>
                  </a:lnTo>
                  <a:lnTo>
                    <a:pt x="5399911" y="2029417"/>
                  </a:lnTo>
                  <a:lnTo>
                    <a:pt x="5375723" y="2060933"/>
                  </a:lnTo>
                  <a:lnTo>
                    <a:pt x="5341316" y="2080793"/>
                  </a:lnTo>
                  <a:lnTo>
                    <a:pt x="5321877" y="2085323"/>
                  </a:lnTo>
                  <a:lnTo>
                    <a:pt x="5315270" y="208597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38199" y="4848224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504824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504824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25500" y="5414645"/>
            <a:ext cx="432816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Passenger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details,</a:t>
            </a:r>
            <a:r>
              <a:rPr dirty="0" sz="1800" spc="-7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70">
                <a:solidFill>
                  <a:srgbClr val="1D294A"/>
                </a:solidFill>
                <a:latin typeface="Century Gothic"/>
                <a:cs typeface="Century Gothic"/>
              </a:rPr>
              <a:t>booking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45">
                <a:solidFill>
                  <a:srgbClr val="1D294A"/>
                </a:solidFill>
                <a:latin typeface="Century Gothic"/>
                <a:cs typeface="Century Gothic"/>
              </a:rPr>
              <a:t>confirmation, </a:t>
            </a:r>
            <a:r>
              <a:rPr dirty="0" sz="1800" spc="-75">
                <a:solidFill>
                  <a:srgbClr val="1D294A"/>
                </a:solidFill>
                <a:latin typeface="Century Gothic"/>
                <a:cs typeface="Century Gothic"/>
              </a:rPr>
              <a:t>unique</a:t>
            </a:r>
            <a:r>
              <a:rPr dirty="0" sz="1800" spc="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PNR</a:t>
            </a:r>
            <a:r>
              <a:rPr dirty="0" sz="1800" spc="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65">
                <a:solidFill>
                  <a:srgbClr val="1D294A"/>
                </a:solidFill>
                <a:latin typeface="Century Gothic"/>
                <a:cs typeface="Century Gothic"/>
              </a:rPr>
              <a:t>generation,</a:t>
            </a:r>
            <a:r>
              <a:rPr dirty="0" sz="1800" spc="-4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ticket</a:t>
            </a:r>
            <a:r>
              <a:rPr dirty="0" sz="1800" spc="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retrieval, </a:t>
            </a:r>
            <a:r>
              <a:rPr dirty="0" sz="1800" spc="-70">
                <a:solidFill>
                  <a:srgbClr val="1D294A"/>
                </a:solidFill>
                <a:latin typeface="Century Gothic"/>
                <a:cs typeface="Century Gothic"/>
              </a:rPr>
              <a:t>booking</a:t>
            </a:r>
            <a:r>
              <a:rPr dirty="0" sz="1800" spc="10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history,</a:t>
            </a:r>
            <a:r>
              <a:rPr dirty="0" sz="1800" spc="3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5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800" spc="10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cancellation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72199" y="4619624"/>
            <a:ext cx="5410200" cy="2085975"/>
            <a:chOff x="6172199" y="4619624"/>
            <a:chExt cx="5410200" cy="2085975"/>
          </a:xfrm>
        </p:grpSpPr>
        <p:sp>
          <p:nvSpPr>
            <p:cNvPr id="19" name="object 19"/>
            <p:cNvSpPr/>
            <p:nvPr/>
          </p:nvSpPr>
          <p:spPr>
            <a:xfrm>
              <a:off x="6172199" y="4619624"/>
              <a:ext cx="5410200" cy="2085975"/>
            </a:xfrm>
            <a:custGeom>
              <a:avLst/>
              <a:gdLst/>
              <a:ahLst/>
              <a:cxnLst/>
              <a:rect l="l" t="t" r="r" b="b"/>
              <a:pathLst>
                <a:path w="5410200" h="2085975">
                  <a:moveTo>
                    <a:pt x="5315270" y="2085974"/>
                  </a:moveTo>
                  <a:lnTo>
                    <a:pt x="94928" y="2085974"/>
                  </a:lnTo>
                  <a:lnTo>
                    <a:pt x="88321" y="2085323"/>
                  </a:lnTo>
                  <a:lnTo>
                    <a:pt x="50700" y="2072557"/>
                  </a:lnTo>
                  <a:lnTo>
                    <a:pt x="20828" y="2046367"/>
                  </a:lnTo>
                  <a:lnTo>
                    <a:pt x="3252" y="2010737"/>
                  </a:lnTo>
                  <a:lnTo>
                    <a:pt x="0" y="1991045"/>
                  </a:lnTo>
                  <a:lnTo>
                    <a:pt x="0" y="1984374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4" y="25040"/>
                  </a:lnTo>
                  <a:lnTo>
                    <a:pt x="68881" y="5180"/>
                  </a:lnTo>
                  <a:lnTo>
                    <a:pt x="94928" y="0"/>
                  </a:lnTo>
                  <a:lnTo>
                    <a:pt x="5315270" y="0"/>
                  </a:lnTo>
                  <a:lnTo>
                    <a:pt x="5353642" y="10286"/>
                  </a:lnTo>
                  <a:lnTo>
                    <a:pt x="5385158" y="34474"/>
                  </a:lnTo>
                  <a:lnTo>
                    <a:pt x="5405017" y="68881"/>
                  </a:lnTo>
                  <a:lnTo>
                    <a:pt x="5410198" y="94928"/>
                  </a:lnTo>
                  <a:lnTo>
                    <a:pt x="5410198" y="1991045"/>
                  </a:lnTo>
                  <a:lnTo>
                    <a:pt x="5399911" y="2029417"/>
                  </a:lnTo>
                  <a:lnTo>
                    <a:pt x="5375723" y="2060933"/>
                  </a:lnTo>
                  <a:lnTo>
                    <a:pt x="5341315" y="2080793"/>
                  </a:lnTo>
                  <a:lnTo>
                    <a:pt x="5321877" y="2085323"/>
                  </a:lnTo>
                  <a:lnTo>
                    <a:pt x="5315270" y="208597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400799" y="4848224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504824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504824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388099" y="5414645"/>
            <a:ext cx="489648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800" spc="-45">
                <a:solidFill>
                  <a:srgbClr val="1D294A"/>
                </a:solidFill>
                <a:latin typeface="Century Gothic"/>
                <a:cs typeface="Century Gothic"/>
              </a:rPr>
              <a:t>Protected</a:t>
            </a:r>
            <a:r>
              <a:rPr dirty="0" sz="180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30">
                <a:solidFill>
                  <a:srgbClr val="1D294A"/>
                </a:solidFill>
                <a:latin typeface="Century Gothic"/>
                <a:cs typeface="Century Gothic"/>
              </a:rPr>
              <a:t>administrator</a:t>
            </a:r>
            <a:r>
              <a:rPr dirty="0" sz="180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90">
                <a:solidFill>
                  <a:srgbClr val="1D294A"/>
                </a:solidFill>
                <a:latin typeface="Century Gothic"/>
                <a:cs typeface="Century Gothic"/>
              </a:rPr>
              <a:t>dashboard</a:t>
            </a:r>
            <a:r>
              <a:rPr dirty="0" sz="1800" spc="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for</a:t>
            </a:r>
            <a:r>
              <a:rPr dirty="0" sz="180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flights,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routes,</a:t>
            </a:r>
            <a:r>
              <a:rPr dirty="0" sz="1800" spc="-7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schedules,</a:t>
            </a:r>
            <a:r>
              <a:rPr dirty="0" sz="1800" spc="-5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fares,</a:t>
            </a:r>
            <a:r>
              <a:rPr dirty="0" sz="1800" spc="-6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bookings,</a:t>
            </a:r>
            <a:r>
              <a:rPr dirty="0" sz="1800" spc="-5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and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reports</a:t>
            </a:r>
            <a:endParaRPr sz="1800">
              <a:latin typeface="Century Gothic"/>
              <a:cs typeface="Century Gothic"/>
            </a:endParaRPr>
          </a:p>
        </p:txBody>
      </p:sp>
      <p:pic>
        <p:nvPicPr>
          <p:cNvPr id="22" name="object 2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609599"/>
            <a:ext cx="476250" cy="285750"/>
          </a:xfrm>
          <a:custGeom>
            <a:avLst/>
            <a:gdLst/>
            <a:ahLst/>
            <a:cxnLst/>
            <a:rect l="l" t="t" r="r" b="b"/>
            <a:pathLst>
              <a:path w="476250" h="285750">
                <a:moveTo>
                  <a:pt x="405053" y="285749"/>
                </a:moveTo>
                <a:lnTo>
                  <a:pt x="71196" y="285749"/>
                </a:lnTo>
                <a:lnTo>
                  <a:pt x="66241" y="285261"/>
                </a:lnTo>
                <a:lnTo>
                  <a:pt x="29705" y="270128"/>
                </a:lnTo>
                <a:lnTo>
                  <a:pt x="3885" y="234087"/>
                </a:lnTo>
                <a:lnTo>
                  <a:pt x="0" y="214553"/>
                </a:lnTo>
                <a:lnTo>
                  <a:pt x="0" y="2095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405053" y="0"/>
                </a:lnTo>
                <a:lnTo>
                  <a:pt x="446544" y="15621"/>
                </a:lnTo>
                <a:lnTo>
                  <a:pt x="472364" y="51661"/>
                </a:lnTo>
                <a:lnTo>
                  <a:pt x="476249" y="71196"/>
                </a:lnTo>
                <a:lnTo>
                  <a:pt x="476249" y="214553"/>
                </a:lnTo>
                <a:lnTo>
                  <a:pt x="460628" y="256044"/>
                </a:lnTo>
                <a:lnTo>
                  <a:pt x="424587" y="281864"/>
                </a:lnTo>
                <a:lnTo>
                  <a:pt x="410008" y="285261"/>
                </a:lnTo>
                <a:lnTo>
                  <a:pt x="405053" y="285749"/>
                </a:lnTo>
                <a:close/>
              </a:path>
            </a:pathLst>
          </a:custGeom>
          <a:solidFill>
            <a:srgbClr val="D0DE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1199" y="634428"/>
            <a:ext cx="252729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165" b="1">
                <a:solidFill>
                  <a:srgbClr val="1D294A"/>
                </a:solidFill>
                <a:latin typeface="Century Gothic"/>
                <a:cs typeface="Century Gothic"/>
              </a:rPr>
              <a:t>04</a:t>
            </a:r>
            <a:endParaRPr sz="125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96899" y="955706"/>
            <a:ext cx="10730865" cy="981710"/>
          </a:xfrm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740"/>
              </a:spcBef>
            </a:pPr>
            <a:r>
              <a:rPr dirty="0" spc="-65"/>
              <a:t>The</a:t>
            </a:r>
            <a:r>
              <a:rPr dirty="0" spc="-405"/>
              <a:t> </a:t>
            </a:r>
            <a:r>
              <a:rPr dirty="0" spc="-295"/>
              <a:t>proposed</a:t>
            </a:r>
            <a:r>
              <a:rPr dirty="0" spc="-405"/>
              <a:t> </a:t>
            </a:r>
            <a:r>
              <a:rPr dirty="0" spc="-210"/>
              <a:t>stack</a:t>
            </a:r>
            <a:r>
              <a:rPr dirty="0" spc="-405"/>
              <a:t> </a:t>
            </a:r>
            <a:r>
              <a:rPr dirty="0" spc="-225"/>
              <a:t>separates</a:t>
            </a:r>
            <a:r>
              <a:rPr dirty="0" spc="-405"/>
              <a:t> </a:t>
            </a:r>
            <a:r>
              <a:rPr dirty="0" spc="-210"/>
              <a:t>presentation,</a:t>
            </a:r>
            <a:r>
              <a:rPr dirty="0" spc="-405"/>
              <a:t> </a:t>
            </a:r>
            <a:r>
              <a:rPr dirty="0" spc="-254"/>
              <a:t>logic,</a:t>
            </a:r>
            <a:r>
              <a:rPr dirty="0" spc="-405"/>
              <a:t> </a:t>
            </a:r>
            <a:r>
              <a:rPr dirty="0" spc="-315"/>
              <a:t>and</a:t>
            </a:r>
            <a:r>
              <a:rPr dirty="0" spc="-405"/>
              <a:t> </a:t>
            </a:r>
            <a:r>
              <a:rPr dirty="0" spc="-300"/>
              <a:t>data </a:t>
            </a:r>
            <a:r>
              <a:rPr dirty="0" spc="-315"/>
              <a:t>access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6899" y="2127281"/>
            <a:ext cx="9049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All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45">
                <a:solidFill>
                  <a:srgbClr val="1D294A"/>
                </a:solidFill>
                <a:latin typeface="Century Gothic"/>
                <a:cs typeface="Century Gothic"/>
              </a:rPr>
              <a:t>technologies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85">
                <a:solidFill>
                  <a:srgbClr val="1D294A"/>
                </a:solidFill>
                <a:latin typeface="Century Gothic"/>
                <a:cs typeface="Century Gothic"/>
              </a:rPr>
              <a:t>are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55">
                <a:solidFill>
                  <a:srgbClr val="1D294A"/>
                </a:solidFill>
                <a:latin typeface="Century Gothic"/>
                <a:cs typeface="Century Gothic"/>
              </a:rPr>
              <a:t>proposed;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90">
                <a:solidFill>
                  <a:srgbClr val="1D294A"/>
                </a:solidFill>
                <a:latin typeface="Century Gothic"/>
                <a:cs typeface="Century Gothic"/>
              </a:rPr>
              <a:t>local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20">
                <a:solidFill>
                  <a:srgbClr val="1D294A"/>
                </a:solidFill>
                <a:latin typeface="Century Gothic"/>
                <a:cs typeface="Century Gothic"/>
              </a:rPr>
              <a:t>installation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4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75">
                <a:solidFill>
                  <a:srgbClr val="1D294A"/>
                </a:solidFill>
                <a:latin typeface="Century Gothic"/>
                <a:cs typeface="Century Gothic"/>
              </a:rPr>
              <a:t>implementation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status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80">
                <a:solidFill>
                  <a:srgbClr val="1D294A"/>
                </a:solidFill>
                <a:latin typeface="Century Gothic"/>
                <a:cs typeface="Century Gothic"/>
              </a:rPr>
              <a:t>remain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to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30">
                <a:solidFill>
                  <a:srgbClr val="1D294A"/>
                </a:solidFill>
                <a:latin typeface="Century Gothic"/>
                <a:cs typeface="Century Gothic"/>
              </a:rPr>
              <a:t>be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verified.</a:t>
            </a:r>
            <a:endParaRPr sz="160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9599" y="2600324"/>
            <a:ext cx="5334000" cy="1504950"/>
            <a:chOff x="609599" y="2600324"/>
            <a:chExt cx="5334000" cy="1504950"/>
          </a:xfrm>
        </p:grpSpPr>
        <p:sp>
          <p:nvSpPr>
            <p:cNvPr id="7" name="object 7"/>
            <p:cNvSpPr/>
            <p:nvPr/>
          </p:nvSpPr>
          <p:spPr>
            <a:xfrm>
              <a:off x="609599" y="2600324"/>
              <a:ext cx="5334000" cy="1504950"/>
            </a:xfrm>
            <a:custGeom>
              <a:avLst/>
              <a:gdLst/>
              <a:ahLst/>
              <a:cxnLst/>
              <a:rect l="l" t="t" r="r" b="b"/>
              <a:pathLst>
                <a:path w="5334000" h="1504950">
                  <a:moveTo>
                    <a:pt x="5239069" y="1504949"/>
                  </a:moveTo>
                  <a:lnTo>
                    <a:pt x="94928" y="1504949"/>
                  </a:lnTo>
                  <a:lnTo>
                    <a:pt x="88321" y="1504299"/>
                  </a:lnTo>
                  <a:lnTo>
                    <a:pt x="50700" y="1491532"/>
                  </a:lnTo>
                  <a:lnTo>
                    <a:pt x="20829" y="1465342"/>
                  </a:lnTo>
                  <a:lnTo>
                    <a:pt x="3253" y="1429714"/>
                  </a:lnTo>
                  <a:lnTo>
                    <a:pt x="0" y="1410020"/>
                  </a:lnTo>
                  <a:lnTo>
                    <a:pt x="0" y="1403349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8" y="0"/>
                  </a:lnTo>
                  <a:lnTo>
                    <a:pt x="5239069" y="0"/>
                  </a:lnTo>
                  <a:lnTo>
                    <a:pt x="5277441" y="10286"/>
                  </a:lnTo>
                  <a:lnTo>
                    <a:pt x="5308958" y="34474"/>
                  </a:lnTo>
                  <a:lnTo>
                    <a:pt x="5328817" y="68882"/>
                  </a:lnTo>
                  <a:lnTo>
                    <a:pt x="5333999" y="94928"/>
                  </a:lnTo>
                  <a:lnTo>
                    <a:pt x="5333999" y="1410020"/>
                  </a:lnTo>
                  <a:lnTo>
                    <a:pt x="5323712" y="1448393"/>
                  </a:lnTo>
                  <a:lnTo>
                    <a:pt x="5299523" y="1479908"/>
                  </a:lnTo>
                  <a:lnTo>
                    <a:pt x="5265115" y="1499768"/>
                  </a:lnTo>
                  <a:lnTo>
                    <a:pt x="5245676" y="1504299"/>
                  </a:lnTo>
                  <a:lnTo>
                    <a:pt x="5239069" y="1504949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42962" y="2833687"/>
              <a:ext cx="428625" cy="342900"/>
            </a:xfrm>
            <a:custGeom>
              <a:avLst/>
              <a:gdLst/>
              <a:ahLst/>
              <a:cxnLst/>
              <a:rect l="l" t="t" r="r" b="b"/>
              <a:pathLst>
                <a:path w="428625" h="342900">
                  <a:moveTo>
                    <a:pt x="338145" y="342899"/>
                  </a:moveTo>
                  <a:lnTo>
                    <a:pt x="90478" y="342899"/>
                  </a:lnTo>
                  <a:lnTo>
                    <a:pt x="84181" y="342279"/>
                  </a:lnTo>
                  <a:lnTo>
                    <a:pt x="37750" y="323047"/>
                  </a:lnTo>
                  <a:lnTo>
                    <a:pt x="9804" y="288994"/>
                  </a:lnTo>
                  <a:lnTo>
                    <a:pt x="0" y="252420"/>
                  </a:lnTo>
                  <a:lnTo>
                    <a:pt x="0" y="246062"/>
                  </a:lnTo>
                  <a:lnTo>
                    <a:pt x="0" y="90478"/>
                  </a:lnTo>
                  <a:lnTo>
                    <a:pt x="12787" y="48323"/>
                  </a:lnTo>
                  <a:lnTo>
                    <a:pt x="48324" y="12787"/>
                  </a:lnTo>
                  <a:lnTo>
                    <a:pt x="90478" y="0"/>
                  </a:lnTo>
                  <a:lnTo>
                    <a:pt x="338145" y="0"/>
                  </a:lnTo>
                  <a:lnTo>
                    <a:pt x="380300" y="12787"/>
                  </a:lnTo>
                  <a:lnTo>
                    <a:pt x="415837" y="48323"/>
                  </a:lnTo>
                  <a:lnTo>
                    <a:pt x="428624" y="90478"/>
                  </a:lnTo>
                  <a:lnTo>
                    <a:pt x="428624" y="252420"/>
                  </a:lnTo>
                  <a:lnTo>
                    <a:pt x="415837" y="294575"/>
                  </a:lnTo>
                  <a:lnTo>
                    <a:pt x="380300" y="330112"/>
                  </a:lnTo>
                  <a:lnTo>
                    <a:pt x="344443" y="342279"/>
                  </a:lnTo>
                  <a:lnTo>
                    <a:pt x="338145" y="342899"/>
                  </a:lnTo>
                  <a:close/>
                </a:path>
              </a:pathLst>
            </a:custGeom>
            <a:solidFill>
              <a:srgbClr val="7EA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42962" y="2833687"/>
              <a:ext cx="428625" cy="342900"/>
            </a:xfrm>
            <a:custGeom>
              <a:avLst/>
              <a:gdLst/>
              <a:ahLst/>
              <a:cxnLst/>
              <a:rect l="l" t="t" r="r" b="b"/>
              <a:pathLst>
                <a:path w="428625" h="342900">
                  <a:moveTo>
                    <a:pt x="0" y="246062"/>
                  </a:moveTo>
                  <a:lnTo>
                    <a:pt x="0" y="96837"/>
                  </a:lnTo>
                  <a:lnTo>
                    <a:pt x="0" y="90478"/>
                  </a:lnTo>
                  <a:lnTo>
                    <a:pt x="620" y="84181"/>
                  </a:lnTo>
                  <a:lnTo>
                    <a:pt x="1860" y="77944"/>
                  </a:lnTo>
                  <a:lnTo>
                    <a:pt x="3101" y="71708"/>
                  </a:lnTo>
                  <a:lnTo>
                    <a:pt x="4937" y="65653"/>
                  </a:lnTo>
                  <a:lnTo>
                    <a:pt x="7371" y="59778"/>
                  </a:lnTo>
                  <a:lnTo>
                    <a:pt x="9804" y="53904"/>
                  </a:lnTo>
                  <a:lnTo>
                    <a:pt x="12787" y="48323"/>
                  </a:lnTo>
                  <a:lnTo>
                    <a:pt x="16319" y="43036"/>
                  </a:lnTo>
                  <a:lnTo>
                    <a:pt x="19852" y="37750"/>
                  </a:lnTo>
                  <a:lnTo>
                    <a:pt x="23866" y="32858"/>
                  </a:lnTo>
                  <a:lnTo>
                    <a:pt x="28362" y="28362"/>
                  </a:lnTo>
                  <a:lnTo>
                    <a:pt x="32858" y="23866"/>
                  </a:lnTo>
                  <a:lnTo>
                    <a:pt x="37750" y="19852"/>
                  </a:lnTo>
                  <a:lnTo>
                    <a:pt x="43037" y="16319"/>
                  </a:lnTo>
                  <a:lnTo>
                    <a:pt x="48324" y="12787"/>
                  </a:lnTo>
                  <a:lnTo>
                    <a:pt x="90478" y="0"/>
                  </a:lnTo>
                  <a:lnTo>
                    <a:pt x="96837" y="0"/>
                  </a:lnTo>
                  <a:lnTo>
                    <a:pt x="331787" y="0"/>
                  </a:lnTo>
                  <a:lnTo>
                    <a:pt x="338145" y="0"/>
                  </a:lnTo>
                  <a:lnTo>
                    <a:pt x="344443" y="619"/>
                  </a:lnTo>
                  <a:lnTo>
                    <a:pt x="385587" y="16319"/>
                  </a:lnTo>
                  <a:lnTo>
                    <a:pt x="390874" y="19852"/>
                  </a:lnTo>
                  <a:lnTo>
                    <a:pt x="395765" y="23866"/>
                  </a:lnTo>
                  <a:lnTo>
                    <a:pt x="400261" y="28362"/>
                  </a:lnTo>
                  <a:lnTo>
                    <a:pt x="404757" y="32858"/>
                  </a:lnTo>
                  <a:lnTo>
                    <a:pt x="408772" y="37750"/>
                  </a:lnTo>
                  <a:lnTo>
                    <a:pt x="412304" y="43036"/>
                  </a:lnTo>
                  <a:lnTo>
                    <a:pt x="415837" y="48323"/>
                  </a:lnTo>
                  <a:lnTo>
                    <a:pt x="418820" y="53904"/>
                  </a:lnTo>
                  <a:lnTo>
                    <a:pt x="421253" y="59778"/>
                  </a:lnTo>
                  <a:lnTo>
                    <a:pt x="423686" y="65653"/>
                  </a:lnTo>
                  <a:lnTo>
                    <a:pt x="425523" y="71708"/>
                  </a:lnTo>
                  <a:lnTo>
                    <a:pt x="426764" y="77944"/>
                  </a:lnTo>
                  <a:lnTo>
                    <a:pt x="428004" y="84181"/>
                  </a:lnTo>
                  <a:lnTo>
                    <a:pt x="428624" y="90478"/>
                  </a:lnTo>
                  <a:lnTo>
                    <a:pt x="428624" y="96837"/>
                  </a:lnTo>
                  <a:lnTo>
                    <a:pt x="428624" y="246062"/>
                  </a:lnTo>
                  <a:lnTo>
                    <a:pt x="428624" y="252420"/>
                  </a:lnTo>
                  <a:lnTo>
                    <a:pt x="428004" y="258718"/>
                  </a:lnTo>
                  <a:lnTo>
                    <a:pt x="426764" y="264954"/>
                  </a:lnTo>
                  <a:lnTo>
                    <a:pt x="425523" y="271190"/>
                  </a:lnTo>
                  <a:lnTo>
                    <a:pt x="423686" y="277245"/>
                  </a:lnTo>
                  <a:lnTo>
                    <a:pt x="421253" y="283120"/>
                  </a:lnTo>
                  <a:lnTo>
                    <a:pt x="418820" y="288994"/>
                  </a:lnTo>
                  <a:lnTo>
                    <a:pt x="415837" y="294575"/>
                  </a:lnTo>
                  <a:lnTo>
                    <a:pt x="412304" y="299862"/>
                  </a:lnTo>
                  <a:lnTo>
                    <a:pt x="408772" y="305149"/>
                  </a:lnTo>
                  <a:lnTo>
                    <a:pt x="385587" y="326579"/>
                  </a:lnTo>
                  <a:lnTo>
                    <a:pt x="380300" y="330112"/>
                  </a:lnTo>
                  <a:lnTo>
                    <a:pt x="374719" y="333095"/>
                  </a:lnTo>
                  <a:lnTo>
                    <a:pt x="368845" y="335528"/>
                  </a:lnTo>
                  <a:lnTo>
                    <a:pt x="362971" y="337961"/>
                  </a:lnTo>
                  <a:lnTo>
                    <a:pt x="331787" y="342899"/>
                  </a:lnTo>
                  <a:lnTo>
                    <a:pt x="96837" y="342899"/>
                  </a:lnTo>
                  <a:lnTo>
                    <a:pt x="59779" y="335528"/>
                  </a:lnTo>
                  <a:lnTo>
                    <a:pt x="53904" y="333095"/>
                  </a:lnTo>
                  <a:lnTo>
                    <a:pt x="48324" y="330112"/>
                  </a:lnTo>
                  <a:lnTo>
                    <a:pt x="43037" y="326579"/>
                  </a:lnTo>
                  <a:lnTo>
                    <a:pt x="37750" y="323047"/>
                  </a:lnTo>
                  <a:lnTo>
                    <a:pt x="32858" y="319032"/>
                  </a:lnTo>
                  <a:lnTo>
                    <a:pt x="28362" y="314536"/>
                  </a:lnTo>
                  <a:lnTo>
                    <a:pt x="23866" y="310040"/>
                  </a:lnTo>
                  <a:lnTo>
                    <a:pt x="3101" y="271190"/>
                  </a:lnTo>
                  <a:lnTo>
                    <a:pt x="0" y="252420"/>
                  </a:lnTo>
                  <a:lnTo>
                    <a:pt x="0" y="246062"/>
                  </a:lnTo>
                  <a:close/>
                </a:path>
              </a:pathLst>
            </a:custGeom>
            <a:ln w="9524">
              <a:solidFill>
                <a:srgbClr val="D8D4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25500" y="2709522"/>
            <a:ext cx="4281805" cy="1149985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1215"/>
              </a:spcBef>
            </a:pPr>
            <a:r>
              <a:rPr dirty="0" sz="1600" spc="-25" b="1">
                <a:latin typeface="Century Gothic"/>
                <a:cs typeface="Century Gothic"/>
              </a:rPr>
              <a:t>01</a:t>
            </a:r>
            <a:endParaRPr sz="1600">
              <a:latin typeface="Century Gothic"/>
              <a:cs typeface="Century Gothic"/>
            </a:endParaRPr>
          </a:p>
          <a:p>
            <a:pPr marL="12700" marR="5080">
              <a:lnSpc>
                <a:spcPct val="111100"/>
              </a:lnSpc>
              <a:spcBef>
                <a:spcPts val="1015"/>
              </a:spcBef>
            </a:pPr>
            <a:r>
              <a:rPr dirty="0" sz="1800" spc="-95">
                <a:solidFill>
                  <a:srgbClr val="1D294A"/>
                </a:solidFill>
                <a:latin typeface="Century Gothic"/>
                <a:cs typeface="Century Gothic"/>
              </a:rPr>
              <a:t>Java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70">
                <a:solidFill>
                  <a:srgbClr val="1D294A"/>
                </a:solidFill>
                <a:latin typeface="Century Gothic"/>
                <a:cs typeface="Century Gothic"/>
              </a:rPr>
              <a:t>21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65">
                <a:solidFill>
                  <a:srgbClr val="1D294A"/>
                </a:solidFill>
                <a:latin typeface="Century Gothic"/>
                <a:cs typeface="Century Gothic"/>
              </a:rPr>
              <a:t>·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155">
                <a:solidFill>
                  <a:srgbClr val="1D294A"/>
                </a:solidFill>
                <a:latin typeface="Century Gothic"/>
                <a:cs typeface="Century Gothic"/>
              </a:rPr>
              <a:t>JSP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65">
                <a:solidFill>
                  <a:srgbClr val="1D294A"/>
                </a:solidFill>
                <a:latin typeface="Century Gothic"/>
                <a:cs typeface="Century Gothic"/>
              </a:rPr>
              <a:t>·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100">
                <a:solidFill>
                  <a:srgbClr val="1D294A"/>
                </a:solidFill>
                <a:latin typeface="Century Gothic"/>
                <a:cs typeface="Century Gothic"/>
              </a:rPr>
              <a:t>HTML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65">
                <a:solidFill>
                  <a:srgbClr val="1D294A"/>
                </a:solidFill>
                <a:latin typeface="Century Gothic"/>
                <a:cs typeface="Century Gothic"/>
              </a:rPr>
              <a:t>·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114">
                <a:solidFill>
                  <a:srgbClr val="1D294A"/>
                </a:solidFill>
                <a:latin typeface="Century Gothic"/>
                <a:cs typeface="Century Gothic"/>
              </a:rPr>
              <a:t>CSS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65">
                <a:solidFill>
                  <a:srgbClr val="1D294A"/>
                </a:solidFill>
                <a:latin typeface="Century Gothic"/>
                <a:cs typeface="Century Gothic"/>
              </a:rPr>
              <a:t>·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JavaScript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0">
                <a:solidFill>
                  <a:srgbClr val="1D294A"/>
                </a:solidFill>
                <a:latin typeface="Century Gothic"/>
                <a:cs typeface="Century Gothic"/>
              </a:rPr>
              <a:t>· 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Jakarta</a:t>
            </a:r>
            <a:r>
              <a:rPr dirty="0" sz="1800" spc="4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Servlets</a:t>
            </a:r>
            <a:r>
              <a:rPr dirty="0" sz="1800" spc="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65">
                <a:solidFill>
                  <a:srgbClr val="1D294A"/>
                </a:solidFill>
                <a:latin typeface="Century Gothic"/>
                <a:cs typeface="Century Gothic"/>
              </a:rPr>
              <a:t>·</a:t>
            </a:r>
            <a:r>
              <a:rPr dirty="0" sz="1800" spc="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JDBC</a:t>
            </a:r>
            <a:r>
              <a:rPr dirty="0" sz="1800" spc="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65">
                <a:solidFill>
                  <a:srgbClr val="1D294A"/>
                </a:solidFill>
                <a:latin typeface="Century Gothic"/>
                <a:cs typeface="Century Gothic"/>
              </a:rPr>
              <a:t>·</a:t>
            </a:r>
            <a:r>
              <a:rPr dirty="0" sz="1800" spc="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40">
                <a:solidFill>
                  <a:srgbClr val="1D294A"/>
                </a:solidFill>
                <a:latin typeface="Century Gothic"/>
                <a:cs typeface="Century Gothic"/>
              </a:rPr>
              <a:t>MySQL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48398" y="2600324"/>
            <a:ext cx="5334000" cy="1504950"/>
            <a:chOff x="6248398" y="2600324"/>
            <a:chExt cx="5334000" cy="1504950"/>
          </a:xfrm>
        </p:grpSpPr>
        <p:sp>
          <p:nvSpPr>
            <p:cNvPr id="12" name="object 12"/>
            <p:cNvSpPr/>
            <p:nvPr/>
          </p:nvSpPr>
          <p:spPr>
            <a:xfrm>
              <a:off x="6248398" y="2600324"/>
              <a:ext cx="5334000" cy="1504950"/>
            </a:xfrm>
            <a:custGeom>
              <a:avLst/>
              <a:gdLst/>
              <a:ahLst/>
              <a:cxnLst/>
              <a:rect l="l" t="t" r="r" b="b"/>
              <a:pathLst>
                <a:path w="5334000" h="1504950">
                  <a:moveTo>
                    <a:pt x="5239071" y="1504949"/>
                  </a:moveTo>
                  <a:lnTo>
                    <a:pt x="94929" y="1504949"/>
                  </a:lnTo>
                  <a:lnTo>
                    <a:pt x="88321" y="1504299"/>
                  </a:lnTo>
                  <a:lnTo>
                    <a:pt x="50700" y="1491532"/>
                  </a:lnTo>
                  <a:lnTo>
                    <a:pt x="20828" y="1465342"/>
                  </a:lnTo>
                  <a:lnTo>
                    <a:pt x="3253" y="1429714"/>
                  </a:lnTo>
                  <a:lnTo>
                    <a:pt x="0" y="1410020"/>
                  </a:lnTo>
                  <a:lnTo>
                    <a:pt x="0" y="1403349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9" y="0"/>
                  </a:lnTo>
                  <a:lnTo>
                    <a:pt x="5239071" y="0"/>
                  </a:lnTo>
                  <a:lnTo>
                    <a:pt x="5277443" y="10286"/>
                  </a:lnTo>
                  <a:lnTo>
                    <a:pt x="5308958" y="34474"/>
                  </a:lnTo>
                  <a:lnTo>
                    <a:pt x="5328817" y="68882"/>
                  </a:lnTo>
                  <a:lnTo>
                    <a:pt x="5333999" y="94928"/>
                  </a:lnTo>
                  <a:lnTo>
                    <a:pt x="5333999" y="1410020"/>
                  </a:lnTo>
                  <a:lnTo>
                    <a:pt x="5323712" y="1448393"/>
                  </a:lnTo>
                  <a:lnTo>
                    <a:pt x="5299524" y="1479908"/>
                  </a:lnTo>
                  <a:lnTo>
                    <a:pt x="5265116" y="1499768"/>
                  </a:lnTo>
                  <a:lnTo>
                    <a:pt x="5245677" y="1504299"/>
                  </a:lnTo>
                  <a:lnTo>
                    <a:pt x="5239071" y="1504949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81761" y="2833687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366721" y="342899"/>
                  </a:moveTo>
                  <a:lnTo>
                    <a:pt x="90479" y="342899"/>
                  </a:lnTo>
                  <a:lnTo>
                    <a:pt x="84181" y="342279"/>
                  </a:lnTo>
                  <a:lnTo>
                    <a:pt x="37750" y="323047"/>
                  </a:lnTo>
                  <a:lnTo>
                    <a:pt x="9804" y="288994"/>
                  </a:lnTo>
                  <a:lnTo>
                    <a:pt x="0" y="252420"/>
                  </a:lnTo>
                  <a:lnTo>
                    <a:pt x="0" y="246062"/>
                  </a:lnTo>
                  <a:lnTo>
                    <a:pt x="0" y="90478"/>
                  </a:lnTo>
                  <a:lnTo>
                    <a:pt x="12787" y="48323"/>
                  </a:lnTo>
                  <a:lnTo>
                    <a:pt x="48324" y="12787"/>
                  </a:lnTo>
                  <a:lnTo>
                    <a:pt x="90479" y="0"/>
                  </a:lnTo>
                  <a:lnTo>
                    <a:pt x="366721" y="0"/>
                  </a:lnTo>
                  <a:lnTo>
                    <a:pt x="408874" y="12787"/>
                  </a:lnTo>
                  <a:lnTo>
                    <a:pt x="444412" y="48323"/>
                  </a:lnTo>
                  <a:lnTo>
                    <a:pt x="457199" y="90478"/>
                  </a:lnTo>
                  <a:lnTo>
                    <a:pt x="457199" y="252420"/>
                  </a:lnTo>
                  <a:lnTo>
                    <a:pt x="444412" y="294575"/>
                  </a:lnTo>
                  <a:lnTo>
                    <a:pt x="408874" y="330112"/>
                  </a:lnTo>
                  <a:lnTo>
                    <a:pt x="373017" y="342279"/>
                  </a:lnTo>
                  <a:lnTo>
                    <a:pt x="366721" y="342899"/>
                  </a:lnTo>
                  <a:close/>
                </a:path>
              </a:pathLst>
            </a:custGeom>
            <a:solidFill>
              <a:srgbClr val="7EA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81761" y="2833687"/>
              <a:ext cx="457200" cy="342900"/>
            </a:xfrm>
            <a:custGeom>
              <a:avLst/>
              <a:gdLst/>
              <a:ahLst/>
              <a:cxnLst/>
              <a:rect l="l" t="t" r="r" b="b"/>
              <a:pathLst>
                <a:path w="457200" h="342900">
                  <a:moveTo>
                    <a:pt x="0" y="246062"/>
                  </a:moveTo>
                  <a:lnTo>
                    <a:pt x="0" y="96837"/>
                  </a:lnTo>
                  <a:lnTo>
                    <a:pt x="0" y="90478"/>
                  </a:lnTo>
                  <a:lnTo>
                    <a:pt x="620" y="84181"/>
                  </a:lnTo>
                  <a:lnTo>
                    <a:pt x="1860" y="77944"/>
                  </a:lnTo>
                  <a:lnTo>
                    <a:pt x="3100" y="71708"/>
                  </a:lnTo>
                  <a:lnTo>
                    <a:pt x="4937" y="65653"/>
                  </a:lnTo>
                  <a:lnTo>
                    <a:pt x="7371" y="59778"/>
                  </a:lnTo>
                  <a:lnTo>
                    <a:pt x="9804" y="53904"/>
                  </a:lnTo>
                  <a:lnTo>
                    <a:pt x="12787" y="48323"/>
                  </a:lnTo>
                  <a:lnTo>
                    <a:pt x="16319" y="43036"/>
                  </a:lnTo>
                  <a:lnTo>
                    <a:pt x="19852" y="37750"/>
                  </a:lnTo>
                  <a:lnTo>
                    <a:pt x="23867" y="32858"/>
                  </a:lnTo>
                  <a:lnTo>
                    <a:pt x="28363" y="28362"/>
                  </a:lnTo>
                  <a:lnTo>
                    <a:pt x="32859" y="23866"/>
                  </a:lnTo>
                  <a:lnTo>
                    <a:pt x="71708" y="3100"/>
                  </a:lnTo>
                  <a:lnTo>
                    <a:pt x="90479" y="0"/>
                  </a:lnTo>
                  <a:lnTo>
                    <a:pt x="96838" y="0"/>
                  </a:lnTo>
                  <a:lnTo>
                    <a:pt x="360362" y="0"/>
                  </a:lnTo>
                  <a:lnTo>
                    <a:pt x="366721" y="0"/>
                  </a:lnTo>
                  <a:lnTo>
                    <a:pt x="373017" y="619"/>
                  </a:lnTo>
                  <a:lnTo>
                    <a:pt x="414162" y="16319"/>
                  </a:lnTo>
                  <a:lnTo>
                    <a:pt x="444412" y="48323"/>
                  </a:lnTo>
                  <a:lnTo>
                    <a:pt x="449828" y="59778"/>
                  </a:lnTo>
                  <a:lnTo>
                    <a:pt x="452261" y="65653"/>
                  </a:lnTo>
                  <a:lnTo>
                    <a:pt x="457200" y="96837"/>
                  </a:lnTo>
                  <a:lnTo>
                    <a:pt x="457200" y="246062"/>
                  </a:lnTo>
                  <a:lnTo>
                    <a:pt x="449828" y="283120"/>
                  </a:lnTo>
                  <a:lnTo>
                    <a:pt x="447395" y="288994"/>
                  </a:lnTo>
                  <a:lnTo>
                    <a:pt x="444412" y="294575"/>
                  </a:lnTo>
                  <a:lnTo>
                    <a:pt x="440879" y="299862"/>
                  </a:lnTo>
                  <a:lnTo>
                    <a:pt x="437346" y="305149"/>
                  </a:lnTo>
                  <a:lnTo>
                    <a:pt x="403294" y="333095"/>
                  </a:lnTo>
                  <a:lnTo>
                    <a:pt x="360362" y="342899"/>
                  </a:lnTo>
                  <a:lnTo>
                    <a:pt x="96838" y="342899"/>
                  </a:lnTo>
                  <a:lnTo>
                    <a:pt x="53905" y="333095"/>
                  </a:lnTo>
                  <a:lnTo>
                    <a:pt x="28363" y="314536"/>
                  </a:lnTo>
                  <a:lnTo>
                    <a:pt x="23867" y="310040"/>
                  </a:lnTo>
                  <a:lnTo>
                    <a:pt x="7371" y="283120"/>
                  </a:lnTo>
                  <a:lnTo>
                    <a:pt x="4937" y="277245"/>
                  </a:lnTo>
                  <a:lnTo>
                    <a:pt x="3100" y="271190"/>
                  </a:lnTo>
                  <a:lnTo>
                    <a:pt x="1860" y="264954"/>
                  </a:lnTo>
                  <a:lnTo>
                    <a:pt x="620" y="258718"/>
                  </a:lnTo>
                  <a:lnTo>
                    <a:pt x="0" y="252420"/>
                  </a:lnTo>
                  <a:lnTo>
                    <a:pt x="0" y="246062"/>
                  </a:lnTo>
                  <a:close/>
                </a:path>
              </a:pathLst>
            </a:custGeom>
            <a:ln w="9524">
              <a:solidFill>
                <a:srgbClr val="D8D4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464299" y="2709522"/>
            <a:ext cx="4811395" cy="1149985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1215"/>
              </a:spcBef>
            </a:pPr>
            <a:r>
              <a:rPr dirty="0" sz="1600" spc="30" b="1">
                <a:latin typeface="Century Gothic"/>
                <a:cs typeface="Century Gothic"/>
              </a:rPr>
              <a:t>02</a:t>
            </a:r>
            <a:endParaRPr sz="1600">
              <a:latin typeface="Century Gothic"/>
              <a:cs typeface="Century Gothic"/>
            </a:endParaRPr>
          </a:p>
          <a:p>
            <a:pPr marL="12700" marR="5080">
              <a:lnSpc>
                <a:spcPct val="111100"/>
              </a:lnSpc>
              <a:spcBef>
                <a:spcPts val="1015"/>
              </a:spcBef>
            </a:pPr>
            <a:r>
              <a:rPr dirty="0" sz="1800" spc="-155">
                <a:solidFill>
                  <a:srgbClr val="1D294A"/>
                </a:solidFill>
                <a:latin typeface="Century Gothic"/>
                <a:cs typeface="Century Gothic"/>
              </a:rPr>
              <a:t>Apache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85">
                <a:solidFill>
                  <a:srgbClr val="1D294A"/>
                </a:solidFill>
                <a:latin typeface="Century Gothic"/>
                <a:cs typeface="Century Gothic"/>
              </a:rPr>
              <a:t>Tomcat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65">
                <a:solidFill>
                  <a:srgbClr val="1D294A"/>
                </a:solidFill>
                <a:latin typeface="Century Gothic"/>
                <a:cs typeface="Century Gothic"/>
              </a:rPr>
              <a:t>10.1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65">
                <a:solidFill>
                  <a:srgbClr val="1D294A"/>
                </a:solidFill>
                <a:latin typeface="Century Gothic"/>
                <a:cs typeface="Century Gothic"/>
              </a:rPr>
              <a:t>·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55">
                <a:solidFill>
                  <a:srgbClr val="1D294A"/>
                </a:solidFill>
                <a:latin typeface="Century Gothic"/>
                <a:cs typeface="Century Gothic"/>
              </a:rPr>
              <a:t>Apache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20">
                <a:solidFill>
                  <a:srgbClr val="1D294A"/>
                </a:solidFill>
                <a:latin typeface="Century Gothic"/>
                <a:cs typeface="Century Gothic"/>
              </a:rPr>
              <a:t>Maven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65">
                <a:solidFill>
                  <a:srgbClr val="1D294A"/>
                </a:solidFill>
                <a:latin typeface="Century Gothic"/>
                <a:cs typeface="Century Gothic"/>
              </a:rPr>
              <a:t>·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0">
                <a:solidFill>
                  <a:srgbClr val="1D294A"/>
                </a:solidFill>
                <a:latin typeface="Century Gothic"/>
                <a:cs typeface="Century Gothic"/>
              </a:rPr>
              <a:t>Git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90">
                <a:solidFill>
                  <a:srgbClr val="1D294A"/>
                </a:solidFill>
                <a:latin typeface="Century Gothic"/>
                <a:cs typeface="Century Gothic"/>
              </a:rPr>
              <a:t>and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GitHub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9599" y="4410075"/>
            <a:ext cx="5334000" cy="1819275"/>
            <a:chOff x="609599" y="4410075"/>
            <a:chExt cx="5334000" cy="1819275"/>
          </a:xfrm>
        </p:grpSpPr>
        <p:sp>
          <p:nvSpPr>
            <p:cNvPr id="17" name="object 17"/>
            <p:cNvSpPr/>
            <p:nvPr/>
          </p:nvSpPr>
          <p:spPr>
            <a:xfrm>
              <a:off x="609599" y="4410075"/>
              <a:ext cx="5334000" cy="1819275"/>
            </a:xfrm>
            <a:custGeom>
              <a:avLst/>
              <a:gdLst/>
              <a:ahLst/>
              <a:cxnLst/>
              <a:rect l="l" t="t" r="r" b="b"/>
              <a:pathLst>
                <a:path w="5334000" h="1819275">
                  <a:moveTo>
                    <a:pt x="5239069" y="1819274"/>
                  </a:moveTo>
                  <a:lnTo>
                    <a:pt x="94928" y="1819274"/>
                  </a:lnTo>
                  <a:lnTo>
                    <a:pt x="88321" y="1818623"/>
                  </a:lnTo>
                  <a:lnTo>
                    <a:pt x="50700" y="1805857"/>
                  </a:lnTo>
                  <a:lnTo>
                    <a:pt x="20829" y="1779667"/>
                  </a:lnTo>
                  <a:lnTo>
                    <a:pt x="3253" y="1744037"/>
                  </a:lnTo>
                  <a:lnTo>
                    <a:pt x="0" y="1724344"/>
                  </a:lnTo>
                  <a:lnTo>
                    <a:pt x="0" y="1717674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5" y="25039"/>
                  </a:lnTo>
                  <a:lnTo>
                    <a:pt x="68882" y="5180"/>
                  </a:lnTo>
                  <a:lnTo>
                    <a:pt x="94928" y="0"/>
                  </a:lnTo>
                  <a:lnTo>
                    <a:pt x="5239069" y="0"/>
                  </a:lnTo>
                  <a:lnTo>
                    <a:pt x="5277441" y="10286"/>
                  </a:lnTo>
                  <a:lnTo>
                    <a:pt x="5308958" y="34474"/>
                  </a:lnTo>
                  <a:lnTo>
                    <a:pt x="5328817" y="68881"/>
                  </a:lnTo>
                  <a:lnTo>
                    <a:pt x="5333999" y="94928"/>
                  </a:lnTo>
                  <a:lnTo>
                    <a:pt x="5333999" y="1724344"/>
                  </a:lnTo>
                  <a:lnTo>
                    <a:pt x="5323712" y="1762717"/>
                  </a:lnTo>
                  <a:lnTo>
                    <a:pt x="5299523" y="1794233"/>
                  </a:lnTo>
                  <a:lnTo>
                    <a:pt x="5265115" y="1814092"/>
                  </a:lnTo>
                  <a:lnTo>
                    <a:pt x="5245676" y="1818623"/>
                  </a:lnTo>
                  <a:lnTo>
                    <a:pt x="5239069" y="181927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42962" y="4643437"/>
              <a:ext cx="466725" cy="352425"/>
            </a:xfrm>
            <a:custGeom>
              <a:avLst/>
              <a:gdLst/>
              <a:ahLst/>
              <a:cxnLst/>
              <a:rect l="l" t="t" r="r" b="b"/>
              <a:pathLst>
                <a:path w="466725" h="352425">
                  <a:moveTo>
                    <a:pt x="376245" y="352424"/>
                  </a:moveTo>
                  <a:lnTo>
                    <a:pt x="90478" y="352424"/>
                  </a:lnTo>
                  <a:lnTo>
                    <a:pt x="84181" y="351804"/>
                  </a:lnTo>
                  <a:lnTo>
                    <a:pt x="37750" y="332572"/>
                  </a:lnTo>
                  <a:lnTo>
                    <a:pt x="9804" y="298519"/>
                  </a:lnTo>
                  <a:lnTo>
                    <a:pt x="0" y="261945"/>
                  </a:lnTo>
                  <a:lnTo>
                    <a:pt x="0" y="255587"/>
                  </a:lnTo>
                  <a:lnTo>
                    <a:pt x="0" y="90478"/>
                  </a:lnTo>
                  <a:lnTo>
                    <a:pt x="12787" y="48323"/>
                  </a:lnTo>
                  <a:lnTo>
                    <a:pt x="48324" y="12787"/>
                  </a:lnTo>
                  <a:lnTo>
                    <a:pt x="90478" y="0"/>
                  </a:lnTo>
                  <a:lnTo>
                    <a:pt x="376245" y="0"/>
                  </a:lnTo>
                  <a:lnTo>
                    <a:pt x="418400" y="12787"/>
                  </a:lnTo>
                  <a:lnTo>
                    <a:pt x="453937" y="48323"/>
                  </a:lnTo>
                  <a:lnTo>
                    <a:pt x="466724" y="90478"/>
                  </a:lnTo>
                  <a:lnTo>
                    <a:pt x="466724" y="261945"/>
                  </a:lnTo>
                  <a:lnTo>
                    <a:pt x="453937" y="304100"/>
                  </a:lnTo>
                  <a:lnTo>
                    <a:pt x="418400" y="339637"/>
                  </a:lnTo>
                  <a:lnTo>
                    <a:pt x="382543" y="351804"/>
                  </a:lnTo>
                  <a:lnTo>
                    <a:pt x="376245" y="352424"/>
                  </a:lnTo>
                  <a:close/>
                </a:path>
              </a:pathLst>
            </a:custGeom>
            <a:solidFill>
              <a:srgbClr val="7EA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42962" y="4643437"/>
              <a:ext cx="466725" cy="352425"/>
            </a:xfrm>
            <a:custGeom>
              <a:avLst/>
              <a:gdLst/>
              <a:ahLst/>
              <a:cxnLst/>
              <a:rect l="l" t="t" r="r" b="b"/>
              <a:pathLst>
                <a:path w="466725" h="352425">
                  <a:moveTo>
                    <a:pt x="0" y="255587"/>
                  </a:moveTo>
                  <a:lnTo>
                    <a:pt x="0" y="96837"/>
                  </a:lnTo>
                  <a:lnTo>
                    <a:pt x="0" y="90478"/>
                  </a:lnTo>
                  <a:lnTo>
                    <a:pt x="620" y="84181"/>
                  </a:lnTo>
                  <a:lnTo>
                    <a:pt x="1860" y="77944"/>
                  </a:lnTo>
                  <a:lnTo>
                    <a:pt x="3101" y="71708"/>
                  </a:lnTo>
                  <a:lnTo>
                    <a:pt x="4937" y="65652"/>
                  </a:lnTo>
                  <a:lnTo>
                    <a:pt x="28362" y="28362"/>
                  </a:lnTo>
                  <a:lnTo>
                    <a:pt x="32858" y="23866"/>
                  </a:lnTo>
                  <a:lnTo>
                    <a:pt x="71708" y="3100"/>
                  </a:lnTo>
                  <a:lnTo>
                    <a:pt x="77945" y="1860"/>
                  </a:lnTo>
                  <a:lnTo>
                    <a:pt x="84181" y="620"/>
                  </a:lnTo>
                  <a:lnTo>
                    <a:pt x="90478" y="0"/>
                  </a:lnTo>
                  <a:lnTo>
                    <a:pt x="96837" y="0"/>
                  </a:lnTo>
                  <a:lnTo>
                    <a:pt x="369887" y="0"/>
                  </a:lnTo>
                  <a:lnTo>
                    <a:pt x="376245" y="0"/>
                  </a:lnTo>
                  <a:lnTo>
                    <a:pt x="382543" y="619"/>
                  </a:lnTo>
                  <a:lnTo>
                    <a:pt x="388779" y="1860"/>
                  </a:lnTo>
                  <a:lnTo>
                    <a:pt x="395015" y="3100"/>
                  </a:lnTo>
                  <a:lnTo>
                    <a:pt x="433865" y="23866"/>
                  </a:lnTo>
                  <a:lnTo>
                    <a:pt x="450404" y="43036"/>
                  </a:lnTo>
                  <a:lnTo>
                    <a:pt x="453937" y="48323"/>
                  </a:lnTo>
                  <a:lnTo>
                    <a:pt x="456920" y="53904"/>
                  </a:lnTo>
                  <a:lnTo>
                    <a:pt x="459353" y="59778"/>
                  </a:lnTo>
                  <a:lnTo>
                    <a:pt x="461786" y="65652"/>
                  </a:lnTo>
                  <a:lnTo>
                    <a:pt x="463623" y="71708"/>
                  </a:lnTo>
                  <a:lnTo>
                    <a:pt x="464864" y="77944"/>
                  </a:lnTo>
                  <a:lnTo>
                    <a:pt x="466104" y="84181"/>
                  </a:lnTo>
                  <a:lnTo>
                    <a:pt x="466724" y="90478"/>
                  </a:lnTo>
                  <a:lnTo>
                    <a:pt x="466724" y="96837"/>
                  </a:lnTo>
                  <a:lnTo>
                    <a:pt x="466724" y="255587"/>
                  </a:lnTo>
                  <a:lnTo>
                    <a:pt x="466724" y="261945"/>
                  </a:lnTo>
                  <a:lnTo>
                    <a:pt x="466104" y="268242"/>
                  </a:lnTo>
                  <a:lnTo>
                    <a:pt x="464864" y="274479"/>
                  </a:lnTo>
                  <a:lnTo>
                    <a:pt x="463623" y="280715"/>
                  </a:lnTo>
                  <a:lnTo>
                    <a:pt x="461786" y="286770"/>
                  </a:lnTo>
                  <a:lnTo>
                    <a:pt x="459353" y="292644"/>
                  </a:lnTo>
                  <a:lnTo>
                    <a:pt x="456920" y="298519"/>
                  </a:lnTo>
                  <a:lnTo>
                    <a:pt x="438361" y="324061"/>
                  </a:lnTo>
                  <a:lnTo>
                    <a:pt x="433865" y="328557"/>
                  </a:lnTo>
                  <a:lnTo>
                    <a:pt x="428974" y="332572"/>
                  </a:lnTo>
                  <a:lnTo>
                    <a:pt x="423687" y="336104"/>
                  </a:lnTo>
                  <a:lnTo>
                    <a:pt x="418400" y="339637"/>
                  </a:lnTo>
                  <a:lnTo>
                    <a:pt x="412819" y="342619"/>
                  </a:lnTo>
                  <a:lnTo>
                    <a:pt x="406945" y="345052"/>
                  </a:lnTo>
                  <a:lnTo>
                    <a:pt x="401070" y="347485"/>
                  </a:lnTo>
                  <a:lnTo>
                    <a:pt x="395015" y="349322"/>
                  </a:lnTo>
                  <a:lnTo>
                    <a:pt x="388779" y="350563"/>
                  </a:lnTo>
                  <a:lnTo>
                    <a:pt x="382543" y="351804"/>
                  </a:lnTo>
                  <a:lnTo>
                    <a:pt x="376245" y="352424"/>
                  </a:lnTo>
                  <a:lnTo>
                    <a:pt x="369887" y="352424"/>
                  </a:lnTo>
                  <a:lnTo>
                    <a:pt x="96837" y="352424"/>
                  </a:lnTo>
                  <a:lnTo>
                    <a:pt x="90478" y="352424"/>
                  </a:lnTo>
                  <a:lnTo>
                    <a:pt x="84181" y="351804"/>
                  </a:lnTo>
                  <a:lnTo>
                    <a:pt x="77945" y="350563"/>
                  </a:lnTo>
                  <a:lnTo>
                    <a:pt x="71708" y="349322"/>
                  </a:lnTo>
                  <a:lnTo>
                    <a:pt x="65653" y="347485"/>
                  </a:lnTo>
                  <a:lnTo>
                    <a:pt x="59779" y="345052"/>
                  </a:lnTo>
                  <a:lnTo>
                    <a:pt x="53904" y="342619"/>
                  </a:lnTo>
                  <a:lnTo>
                    <a:pt x="48324" y="339637"/>
                  </a:lnTo>
                  <a:lnTo>
                    <a:pt x="43037" y="336104"/>
                  </a:lnTo>
                  <a:lnTo>
                    <a:pt x="37750" y="332572"/>
                  </a:lnTo>
                  <a:lnTo>
                    <a:pt x="32858" y="328557"/>
                  </a:lnTo>
                  <a:lnTo>
                    <a:pt x="28362" y="324061"/>
                  </a:lnTo>
                  <a:lnTo>
                    <a:pt x="23866" y="319565"/>
                  </a:lnTo>
                  <a:lnTo>
                    <a:pt x="3101" y="280715"/>
                  </a:lnTo>
                  <a:lnTo>
                    <a:pt x="1860" y="274479"/>
                  </a:lnTo>
                  <a:lnTo>
                    <a:pt x="620" y="268242"/>
                  </a:lnTo>
                  <a:lnTo>
                    <a:pt x="0" y="261945"/>
                  </a:lnTo>
                  <a:lnTo>
                    <a:pt x="0" y="255587"/>
                  </a:lnTo>
                  <a:close/>
                </a:path>
              </a:pathLst>
            </a:custGeom>
            <a:ln w="9524">
              <a:solidFill>
                <a:srgbClr val="D8D4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25500" y="4519272"/>
            <a:ext cx="4755515" cy="1464310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1215"/>
              </a:spcBef>
            </a:pPr>
            <a:r>
              <a:rPr dirty="0" sz="1600" spc="85" b="1">
                <a:latin typeface="Century Gothic"/>
                <a:cs typeface="Century Gothic"/>
              </a:rPr>
              <a:t>03</a:t>
            </a:r>
            <a:endParaRPr sz="1600">
              <a:latin typeface="Century Gothic"/>
              <a:cs typeface="Century Gothic"/>
            </a:endParaRPr>
          </a:p>
          <a:p>
            <a:pPr marL="12700" marR="5080">
              <a:lnSpc>
                <a:spcPct val="112799"/>
              </a:lnSpc>
              <a:spcBef>
                <a:spcPts val="975"/>
              </a:spcBef>
            </a:pPr>
            <a:r>
              <a:rPr dirty="0" sz="1800" spc="45">
                <a:solidFill>
                  <a:srgbClr val="1D294A"/>
                </a:solidFill>
                <a:latin typeface="Century Gothic"/>
                <a:cs typeface="Century Gothic"/>
              </a:rPr>
              <a:t>Browser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40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155">
                <a:solidFill>
                  <a:srgbClr val="1D294A"/>
                </a:solidFill>
                <a:latin typeface="Century Gothic"/>
                <a:cs typeface="Century Gothic"/>
              </a:rPr>
              <a:t>JSP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Presentation</a:t>
            </a:r>
            <a:r>
              <a:rPr dirty="0" sz="180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Layer </a:t>
            </a:r>
            <a:r>
              <a:rPr dirty="0" sz="1800" spc="-540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Servlet 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Controller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Layer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40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Service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Layer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90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-40">
                <a:solidFill>
                  <a:srgbClr val="1D294A"/>
                </a:solidFill>
                <a:latin typeface="Century Gothic"/>
                <a:cs typeface="Century Gothic"/>
              </a:rPr>
              <a:t> DAO/JDBC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Layer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40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50">
                <a:solidFill>
                  <a:srgbClr val="1D294A"/>
                </a:solidFill>
                <a:latin typeface="Century Gothic"/>
                <a:cs typeface="Century Gothic"/>
              </a:rPr>
              <a:t>MySQL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 Database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48398" y="4410075"/>
            <a:ext cx="5334000" cy="1819275"/>
            <a:chOff x="6248398" y="4410075"/>
            <a:chExt cx="5334000" cy="1819275"/>
          </a:xfrm>
        </p:grpSpPr>
        <p:sp>
          <p:nvSpPr>
            <p:cNvPr id="22" name="object 22"/>
            <p:cNvSpPr/>
            <p:nvPr/>
          </p:nvSpPr>
          <p:spPr>
            <a:xfrm>
              <a:off x="6248398" y="4410075"/>
              <a:ext cx="5334000" cy="1819275"/>
            </a:xfrm>
            <a:custGeom>
              <a:avLst/>
              <a:gdLst/>
              <a:ahLst/>
              <a:cxnLst/>
              <a:rect l="l" t="t" r="r" b="b"/>
              <a:pathLst>
                <a:path w="5334000" h="1819275">
                  <a:moveTo>
                    <a:pt x="5239071" y="1819274"/>
                  </a:moveTo>
                  <a:lnTo>
                    <a:pt x="94929" y="1819274"/>
                  </a:lnTo>
                  <a:lnTo>
                    <a:pt x="88321" y="1818623"/>
                  </a:lnTo>
                  <a:lnTo>
                    <a:pt x="50700" y="1805857"/>
                  </a:lnTo>
                  <a:lnTo>
                    <a:pt x="20828" y="1779667"/>
                  </a:lnTo>
                  <a:lnTo>
                    <a:pt x="3253" y="1744037"/>
                  </a:lnTo>
                  <a:lnTo>
                    <a:pt x="0" y="1724344"/>
                  </a:lnTo>
                  <a:lnTo>
                    <a:pt x="0" y="1717674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5" y="25039"/>
                  </a:lnTo>
                  <a:lnTo>
                    <a:pt x="68882" y="5180"/>
                  </a:lnTo>
                  <a:lnTo>
                    <a:pt x="94929" y="0"/>
                  </a:lnTo>
                  <a:lnTo>
                    <a:pt x="5239071" y="0"/>
                  </a:lnTo>
                  <a:lnTo>
                    <a:pt x="5277443" y="10286"/>
                  </a:lnTo>
                  <a:lnTo>
                    <a:pt x="5308958" y="34474"/>
                  </a:lnTo>
                  <a:lnTo>
                    <a:pt x="5328817" y="68881"/>
                  </a:lnTo>
                  <a:lnTo>
                    <a:pt x="5333999" y="94928"/>
                  </a:lnTo>
                  <a:lnTo>
                    <a:pt x="5333999" y="1724344"/>
                  </a:lnTo>
                  <a:lnTo>
                    <a:pt x="5323712" y="1762717"/>
                  </a:lnTo>
                  <a:lnTo>
                    <a:pt x="5299524" y="1794233"/>
                  </a:lnTo>
                  <a:lnTo>
                    <a:pt x="5265116" y="1814092"/>
                  </a:lnTo>
                  <a:lnTo>
                    <a:pt x="5245677" y="1818623"/>
                  </a:lnTo>
                  <a:lnTo>
                    <a:pt x="5239071" y="181927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481761" y="4643437"/>
              <a:ext cx="476250" cy="352425"/>
            </a:xfrm>
            <a:custGeom>
              <a:avLst/>
              <a:gdLst/>
              <a:ahLst/>
              <a:cxnLst/>
              <a:rect l="l" t="t" r="r" b="b"/>
              <a:pathLst>
                <a:path w="476250" h="352425">
                  <a:moveTo>
                    <a:pt x="385771" y="352424"/>
                  </a:moveTo>
                  <a:lnTo>
                    <a:pt x="90479" y="352424"/>
                  </a:lnTo>
                  <a:lnTo>
                    <a:pt x="84181" y="351804"/>
                  </a:lnTo>
                  <a:lnTo>
                    <a:pt x="37750" y="332572"/>
                  </a:lnTo>
                  <a:lnTo>
                    <a:pt x="9804" y="298519"/>
                  </a:lnTo>
                  <a:lnTo>
                    <a:pt x="0" y="261945"/>
                  </a:lnTo>
                  <a:lnTo>
                    <a:pt x="0" y="255587"/>
                  </a:lnTo>
                  <a:lnTo>
                    <a:pt x="0" y="90478"/>
                  </a:lnTo>
                  <a:lnTo>
                    <a:pt x="12787" y="48323"/>
                  </a:lnTo>
                  <a:lnTo>
                    <a:pt x="48324" y="12787"/>
                  </a:lnTo>
                  <a:lnTo>
                    <a:pt x="90479" y="0"/>
                  </a:lnTo>
                  <a:lnTo>
                    <a:pt x="385771" y="0"/>
                  </a:lnTo>
                  <a:lnTo>
                    <a:pt x="427924" y="12787"/>
                  </a:lnTo>
                  <a:lnTo>
                    <a:pt x="463461" y="48323"/>
                  </a:lnTo>
                  <a:lnTo>
                    <a:pt x="476250" y="90478"/>
                  </a:lnTo>
                  <a:lnTo>
                    <a:pt x="476250" y="261945"/>
                  </a:lnTo>
                  <a:lnTo>
                    <a:pt x="463462" y="304100"/>
                  </a:lnTo>
                  <a:lnTo>
                    <a:pt x="427924" y="339637"/>
                  </a:lnTo>
                  <a:lnTo>
                    <a:pt x="392068" y="351804"/>
                  </a:lnTo>
                  <a:lnTo>
                    <a:pt x="385771" y="352424"/>
                  </a:lnTo>
                  <a:close/>
                </a:path>
              </a:pathLst>
            </a:custGeom>
            <a:solidFill>
              <a:srgbClr val="7EA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81761" y="4643437"/>
              <a:ext cx="476250" cy="352425"/>
            </a:xfrm>
            <a:custGeom>
              <a:avLst/>
              <a:gdLst/>
              <a:ahLst/>
              <a:cxnLst/>
              <a:rect l="l" t="t" r="r" b="b"/>
              <a:pathLst>
                <a:path w="476250" h="352425">
                  <a:moveTo>
                    <a:pt x="0" y="255587"/>
                  </a:moveTo>
                  <a:lnTo>
                    <a:pt x="0" y="96837"/>
                  </a:lnTo>
                  <a:lnTo>
                    <a:pt x="0" y="90478"/>
                  </a:lnTo>
                  <a:lnTo>
                    <a:pt x="620" y="84181"/>
                  </a:lnTo>
                  <a:lnTo>
                    <a:pt x="1860" y="77944"/>
                  </a:lnTo>
                  <a:lnTo>
                    <a:pt x="3100" y="71708"/>
                  </a:lnTo>
                  <a:lnTo>
                    <a:pt x="4937" y="65652"/>
                  </a:lnTo>
                  <a:lnTo>
                    <a:pt x="7371" y="59778"/>
                  </a:lnTo>
                  <a:lnTo>
                    <a:pt x="9804" y="53904"/>
                  </a:lnTo>
                  <a:lnTo>
                    <a:pt x="12787" y="48323"/>
                  </a:lnTo>
                  <a:lnTo>
                    <a:pt x="16319" y="43036"/>
                  </a:lnTo>
                  <a:lnTo>
                    <a:pt x="19852" y="37750"/>
                  </a:lnTo>
                  <a:lnTo>
                    <a:pt x="23867" y="32858"/>
                  </a:lnTo>
                  <a:lnTo>
                    <a:pt x="28363" y="28362"/>
                  </a:lnTo>
                  <a:lnTo>
                    <a:pt x="32859" y="23866"/>
                  </a:lnTo>
                  <a:lnTo>
                    <a:pt x="71708" y="3100"/>
                  </a:lnTo>
                  <a:lnTo>
                    <a:pt x="77945" y="1860"/>
                  </a:lnTo>
                  <a:lnTo>
                    <a:pt x="84181" y="620"/>
                  </a:lnTo>
                  <a:lnTo>
                    <a:pt x="90479" y="0"/>
                  </a:lnTo>
                  <a:lnTo>
                    <a:pt x="96838" y="0"/>
                  </a:lnTo>
                  <a:lnTo>
                    <a:pt x="379412" y="0"/>
                  </a:lnTo>
                  <a:lnTo>
                    <a:pt x="385771" y="0"/>
                  </a:lnTo>
                  <a:lnTo>
                    <a:pt x="392068" y="619"/>
                  </a:lnTo>
                  <a:lnTo>
                    <a:pt x="398304" y="1860"/>
                  </a:lnTo>
                  <a:lnTo>
                    <a:pt x="404540" y="3100"/>
                  </a:lnTo>
                  <a:lnTo>
                    <a:pt x="443389" y="23866"/>
                  </a:lnTo>
                  <a:lnTo>
                    <a:pt x="468878" y="59778"/>
                  </a:lnTo>
                  <a:lnTo>
                    <a:pt x="471311" y="65652"/>
                  </a:lnTo>
                  <a:lnTo>
                    <a:pt x="473149" y="71708"/>
                  </a:lnTo>
                  <a:lnTo>
                    <a:pt x="474389" y="77944"/>
                  </a:lnTo>
                  <a:lnTo>
                    <a:pt x="475630" y="84181"/>
                  </a:lnTo>
                  <a:lnTo>
                    <a:pt x="476250" y="90478"/>
                  </a:lnTo>
                  <a:lnTo>
                    <a:pt x="476250" y="96837"/>
                  </a:lnTo>
                  <a:lnTo>
                    <a:pt x="476250" y="255587"/>
                  </a:lnTo>
                  <a:lnTo>
                    <a:pt x="476250" y="261945"/>
                  </a:lnTo>
                  <a:lnTo>
                    <a:pt x="475630" y="268242"/>
                  </a:lnTo>
                  <a:lnTo>
                    <a:pt x="474389" y="274479"/>
                  </a:lnTo>
                  <a:lnTo>
                    <a:pt x="473149" y="280715"/>
                  </a:lnTo>
                  <a:lnTo>
                    <a:pt x="452382" y="319565"/>
                  </a:lnTo>
                  <a:lnTo>
                    <a:pt x="416469" y="345052"/>
                  </a:lnTo>
                  <a:lnTo>
                    <a:pt x="398304" y="350563"/>
                  </a:lnTo>
                  <a:lnTo>
                    <a:pt x="392068" y="351804"/>
                  </a:lnTo>
                  <a:lnTo>
                    <a:pt x="385771" y="352424"/>
                  </a:lnTo>
                  <a:lnTo>
                    <a:pt x="379412" y="352424"/>
                  </a:lnTo>
                  <a:lnTo>
                    <a:pt x="96838" y="352424"/>
                  </a:lnTo>
                  <a:lnTo>
                    <a:pt x="90479" y="352424"/>
                  </a:lnTo>
                  <a:lnTo>
                    <a:pt x="84181" y="351804"/>
                  </a:lnTo>
                  <a:lnTo>
                    <a:pt x="77945" y="350563"/>
                  </a:lnTo>
                  <a:lnTo>
                    <a:pt x="71708" y="349322"/>
                  </a:lnTo>
                  <a:lnTo>
                    <a:pt x="43037" y="336104"/>
                  </a:lnTo>
                  <a:lnTo>
                    <a:pt x="37750" y="332572"/>
                  </a:lnTo>
                  <a:lnTo>
                    <a:pt x="32859" y="328557"/>
                  </a:lnTo>
                  <a:lnTo>
                    <a:pt x="28363" y="324061"/>
                  </a:lnTo>
                  <a:lnTo>
                    <a:pt x="23867" y="319565"/>
                  </a:lnTo>
                  <a:lnTo>
                    <a:pt x="7371" y="292644"/>
                  </a:lnTo>
                  <a:lnTo>
                    <a:pt x="4937" y="286770"/>
                  </a:lnTo>
                  <a:lnTo>
                    <a:pt x="3100" y="280715"/>
                  </a:lnTo>
                  <a:lnTo>
                    <a:pt x="1860" y="274479"/>
                  </a:lnTo>
                  <a:lnTo>
                    <a:pt x="620" y="268242"/>
                  </a:lnTo>
                  <a:lnTo>
                    <a:pt x="0" y="261945"/>
                  </a:lnTo>
                  <a:lnTo>
                    <a:pt x="0" y="255587"/>
                  </a:lnTo>
                  <a:close/>
                </a:path>
              </a:pathLst>
            </a:custGeom>
            <a:ln w="9524">
              <a:solidFill>
                <a:srgbClr val="D8D4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464299" y="4519272"/>
            <a:ext cx="4874895" cy="1149985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1215"/>
              </a:spcBef>
            </a:pPr>
            <a:r>
              <a:rPr dirty="0" sz="1600" spc="100" b="1">
                <a:latin typeface="Century Gothic"/>
                <a:cs typeface="Century Gothic"/>
              </a:rPr>
              <a:t>04</a:t>
            </a:r>
            <a:endParaRPr sz="1600">
              <a:latin typeface="Century Gothic"/>
              <a:cs typeface="Century Gothic"/>
            </a:endParaRPr>
          </a:p>
          <a:p>
            <a:pPr marL="12700" marR="5080">
              <a:lnSpc>
                <a:spcPct val="111100"/>
              </a:lnSpc>
              <a:spcBef>
                <a:spcPts val="1015"/>
              </a:spcBef>
            </a:pP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Entities:</a:t>
            </a:r>
            <a:r>
              <a:rPr dirty="0" sz="1800" spc="13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75">
                <a:solidFill>
                  <a:srgbClr val="1D294A"/>
                </a:solidFill>
                <a:latin typeface="Century Gothic"/>
                <a:cs typeface="Century Gothic"/>
              </a:rPr>
              <a:t>Users,</a:t>
            </a:r>
            <a:r>
              <a:rPr dirty="0" sz="1800" spc="6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Flights,</a:t>
            </a:r>
            <a:r>
              <a:rPr dirty="0" sz="1800" spc="6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Bookings,</a:t>
            </a:r>
            <a:r>
              <a:rPr dirty="0" sz="1800" spc="6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Passengers, </a:t>
            </a:r>
            <a:r>
              <a:rPr dirty="0" sz="1800" spc="-15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Tickets</a:t>
            </a:r>
            <a:endParaRPr sz="1800">
              <a:latin typeface="Century Gothic"/>
              <a:cs typeface="Century Gothic"/>
            </a:endParaRPr>
          </a:p>
        </p:txBody>
      </p:sp>
      <p:pic>
        <p:nvPicPr>
          <p:cNvPr id="26" name="object 26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609599"/>
            <a:ext cx="466725" cy="285750"/>
          </a:xfrm>
          <a:custGeom>
            <a:avLst/>
            <a:gdLst/>
            <a:ahLst/>
            <a:cxnLst/>
            <a:rect l="l" t="t" r="r" b="b"/>
            <a:pathLst>
              <a:path w="466725" h="285750">
                <a:moveTo>
                  <a:pt x="395528" y="285749"/>
                </a:moveTo>
                <a:lnTo>
                  <a:pt x="71196" y="285749"/>
                </a:lnTo>
                <a:lnTo>
                  <a:pt x="66241" y="285261"/>
                </a:lnTo>
                <a:lnTo>
                  <a:pt x="29705" y="270128"/>
                </a:lnTo>
                <a:lnTo>
                  <a:pt x="3885" y="234087"/>
                </a:lnTo>
                <a:lnTo>
                  <a:pt x="0" y="214553"/>
                </a:lnTo>
                <a:lnTo>
                  <a:pt x="0" y="2095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395528" y="0"/>
                </a:lnTo>
                <a:lnTo>
                  <a:pt x="437019" y="15621"/>
                </a:lnTo>
                <a:lnTo>
                  <a:pt x="462839" y="51661"/>
                </a:lnTo>
                <a:lnTo>
                  <a:pt x="466725" y="71196"/>
                </a:lnTo>
                <a:lnTo>
                  <a:pt x="466725" y="214553"/>
                </a:lnTo>
                <a:lnTo>
                  <a:pt x="451103" y="256044"/>
                </a:lnTo>
                <a:lnTo>
                  <a:pt x="415062" y="281864"/>
                </a:lnTo>
                <a:lnTo>
                  <a:pt x="400483" y="285261"/>
                </a:lnTo>
                <a:lnTo>
                  <a:pt x="395528" y="285749"/>
                </a:lnTo>
                <a:close/>
              </a:path>
            </a:pathLst>
          </a:custGeom>
          <a:solidFill>
            <a:srgbClr val="D0DE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1199" y="634428"/>
            <a:ext cx="249554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150" b="1">
                <a:solidFill>
                  <a:srgbClr val="1D294A"/>
                </a:solidFill>
                <a:latin typeface="Century Gothic"/>
                <a:cs typeface="Century Gothic"/>
              </a:rPr>
              <a:t>05</a:t>
            </a:r>
            <a:endParaRPr sz="125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96899" y="1031906"/>
            <a:ext cx="6390640" cy="543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Five</a:t>
            </a:r>
            <a:r>
              <a:rPr dirty="0" spc="-409"/>
              <a:t> </a:t>
            </a:r>
            <a:r>
              <a:rPr dirty="0" spc="-165"/>
              <a:t>owners,</a:t>
            </a:r>
            <a:r>
              <a:rPr dirty="0" spc="-405"/>
              <a:t> </a:t>
            </a:r>
            <a:r>
              <a:rPr dirty="0" spc="-340"/>
              <a:t>one</a:t>
            </a:r>
            <a:r>
              <a:rPr dirty="0" spc="-405"/>
              <a:t> </a:t>
            </a:r>
            <a:r>
              <a:rPr dirty="0" spc="-229"/>
              <a:t>integrated</a:t>
            </a:r>
            <a:r>
              <a:rPr dirty="0" spc="-405"/>
              <a:t> </a:t>
            </a:r>
            <a:r>
              <a:rPr dirty="0" spc="-265"/>
              <a:t>project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6899" y="1657337"/>
            <a:ext cx="1061148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2000" spc="-110">
                <a:solidFill>
                  <a:srgbClr val="B4C2EC"/>
                </a:solidFill>
                <a:latin typeface="Century Gothic"/>
                <a:cs typeface="Century Gothic"/>
              </a:rPr>
              <a:t>Module</a:t>
            </a:r>
            <a:r>
              <a:rPr dirty="0" sz="2000" spc="10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 spc="-100">
                <a:solidFill>
                  <a:srgbClr val="B4C2EC"/>
                </a:solidFill>
                <a:latin typeface="Century Gothic"/>
                <a:cs typeface="Century Gothic"/>
              </a:rPr>
              <a:t>dependencies</a:t>
            </a:r>
            <a:r>
              <a:rPr dirty="0" sz="2000" spc="10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 spc="-105">
                <a:solidFill>
                  <a:srgbClr val="B4C2EC"/>
                </a:solidFill>
                <a:latin typeface="Century Gothic"/>
                <a:cs typeface="Century Gothic"/>
              </a:rPr>
              <a:t>connect</a:t>
            </a:r>
            <a:r>
              <a:rPr dirty="0" sz="2000" spc="15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 spc="-75">
                <a:solidFill>
                  <a:srgbClr val="B4C2EC"/>
                </a:solidFill>
                <a:latin typeface="Century Gothic"/>
                <a:cs typeface="Century Gothic"/>
              </a:rPr>
              <a:t>authentication,</a:t>
            </a:r>
            <a:r>
              <a:rPr dirty="0" sz="2000" spc="-55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B4C2EC"/>
                </a:solidFill>
                <a:latin typeface="Century Gothic"/>
                <a:cs typeface="Century Gothic"/>
              </a:rPr>
              <a:t>flight</a:t>
            </a:r>
            <a:r>
              <a:rPr dirty="0" sz="2000" spc="15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 spc="-145">
                <a:solidFill>
                  <a:srgbClr val="B4C2EC"/>
                </a:solidFill>
                <a:latin typeface="Century Gothic"/>
                <a:cs typeface="Century Gothic"/>
              </a:rPr>
              <a:t>data,</a:t>
            </a:r>
            <a:r>
              <a:rPr dirty="0" sz="2000" spc="-55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 spc="-85">
                <a:solidFill>
                  <a:srgbClr val="B4C2EC"/>
                </a:solidFill>
                <a:latin typeface="Century Gothic"/>
                <a:cs typeface="Century Gothic"/>
              </a:rPr>
              <a:t>booking,</a:t>
            </a:r>
            <a:r>
              <a:rPr dirty="0" sz="2000" spc="-50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 spc="-40">
                <a:solidFill>
                  <a:srgbClr val="B4C2EC"/>
                </a:solidFill>
                <a:latin typeface="Century Gothic"/>
                <a:cs typeface="Century Gothic"/>
              </a:rPr>
              <a:t>ticketing,</a:t>
            </a:r>
            <a:r>
              <a:rPr dirty="0" sz="2000" spc="-50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 spc="-45">
                <a:solidFill>
                  <a:srgbClr val="B4C2EC"/>
                </a:solidFill>
                <a:latin typeface="Century Gothic"/>
                <a:cs typeface="Century Gothic"/>
              </a:rPr>
              <a:t>cancellation, </a:t>
            </a:r>
            <a:r>
              <a:rPr dirty="0" sz="2000" spc="-170">
                <a:solidFill>
                  <a:srgbClr val="B4C2EC"/>
                </a:solidFill>
                <a:latin typeface="Century Gothic"/>
                <a:cs typeface="Century Gothic"/>
              </a:rPr>
              <a:t>and</a:t>
            </a:r>
            <a:r>
              <a:rPr dirty="0" sz="2000" spc="-5">
                <a:solidFill>
                  <a:srgbClr val="B4C2EC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B4C2EC"/>
                </a:solidFill>
                <a:latin typeface="Century Gothic"/>
                <a:cs typeface="Century Gothic"/>
              </a:rPr>
              <a:t>administration.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9599" y="2581274"/>
            <a:ext cx="2076450" cy="3667125"/>
            <a:chOff x="609599" y="2581274"/>
            <a:chExt cx="2076450" cy="3667125"/>
          </a:xfrm>
        </p:grpSpPr>
        <p:sp>
          <p:nvSpPr>
            <p:cNvPr id="7" name="object 7"/>
            <p:cNvSpPr/>
            <p:nvPr/>
          </p:nvSpPr>
          <p:spPr>
            <a:xfrm>
              <a:off x="609599" y="2581274"/>
              <a:ext cx="2076450" cy="3667125"/>
            </a:xfrm>
            <a:custGeom>
              <a:avLst/>
              <a:gdLst/>
              <a:ahLst/>
              <a:cxnLst/>
              <a:rect l="l" t="t" r="r" b="b"/>
              <a:pathLst>
                <a:path w="2076450" h="3667125">
                  <a:moveTo>
                    <a:pt x="1981521" y="3667124"/>
                  </a:moveTo>
                  <a:lnTo>
                    <a:pt x="94928" y="3667124"/>
                  </a:lnTo>
                  <a:lnTo>
                    <a:pt x="88321" y="3666473"/>
                  </a:lnTo>
                  <a:lnTo>
                    <a:pt x="50700" y="3653707"/>
                  </a:lnTo>
                  <a:lnTo>
                    <a:pt x="20829" y="3627516"/>
                  </a:lnTo>
                  <a:lnTo>
                    <a:pt x="3253" y="3591887"/>
                  </a:lnTo>
                  <a:lnTo>
                    <a:pt x="0" y="3572195"/>
                  </a:lnTo>
                  <a:lnTo>
                    <a:pt x="0" y="3565524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8" y="0"/>
                  </a:lnTo>
                  <a:lnTo>
                    <a:pt x="1981521" y="0"/>
                  </a:lnTo>
                  <a:lnTo>
                    <a:pt x="2019893" y="10286"/>
                  </a:lnTo>
                  <a:lnTo>
                    <a:pt x="2051408" y="34474"/>
                  </a:lnTo>
                  <a:lnTo>
                    <a:pt x="2071268" y="68882"/>
                  </a:lnTo>
                  <a:lnTo>
                    <a:pt x="2076449" y="94928"/>
                  </a:lnTo>
                  <a:lnTo>
                    <a:pt x="2076449" y="3572195"/>
                  </a:lnTo>
                  <a:lnTo>
                    <a:pt x="2066162" y="3610567"/>
                  </a:lnTo>
                  <a:lnTo>
                    <a:pt x="2041974" y="3642083"/>
                  </a:lnTo>
                  <a:lnTo>
                    <a:pt x="2007567" y="3661942"/>
                  </a:lnTo>
                  <a:lnTo>
                    <a:pt x="1988127" y="3666473"/>
                  </a:lnTo>
                  <a:lnTo>
                    <a:pt x="1981521" y="366712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38199" y="2809874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504824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504824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3376294"/>
            <a:ext cx="1634489" cy="141097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48895">
              <a:lnSpc>
                <a:spcPct val="112799"/>
              </a:lnSpc>
              <a:spcBef>
                <a:spcPts val="60"/>
              </a:spcBef>
            </a:pPr>
            <a:r>
              <a:rPr dirty="0" sz="1800" spc="-60">
                <a:solidFill>
                  <a:srgbClr val="1D294A"/>
                </a:solidFill>
                <a:latin typeface="Century Gothic"/>
                <a:cs typeface="Century Gothic"/>
              </a:rPr>
              <a:t>Authentication </a:t>
            </a:r>
            <a:r>
              <a:rPr dirty="0" sz="1800" spc="-15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50">
                <a:solidFill>
                  <a:srgbClr val="1D294A"/>
                </a:solidFill>
                <a:latin typeface="Century Gothic"/>
                <a:cs typeface="Century Gothic"/>
              </a:rPr>
              <a:t>User 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Management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dirty="0" sz="1600" spc="-155">
                <a:solidFill>
                  <a:srgbClr val="1D294A"/>
                </a:solidFill>
                <a:latin typeface="Century Gothic"/>
                <a:cs typeface="Century Gothic"/>
              </a:rPr>
              <a:t>Mohammed</a:t>
            </a:r>
            <a:r>
              <a:rPr dirty="0" sz="1600" spc="6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20">
                <a:solidFill>
                  <a:srgbClr val="1D294A"/>
                </a:solidFill>
                <a:latin typeface="Century Gothic"/>
                <a:cs typeface="Century Gothic"/>
              </a:rPr>
              <a:t>Sahil</a:t>
            </a:r>
            <a:endParaRPr sz="160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38449" y="2581274"/>
            <a:ext cx="2066925" cy="3667125"/>
            <a:chOff x="2838449" y="2581274"/>
            <a:chExt cx="2066925" cy="3667125"/>
          </a:xfrm>
        </p:grpSpPr>
        <p:sp>
          <p:nvSpPr>
            <p:cNvPr id="11" name="object 11"/>
            <p:cNvSpPr/>
            <p:nvPr/>
          </p:nvSpPr>
          <p:spPr>
            <a:xfrm>
              <a:off x="2838449" y="2581274"/>
              <a:ext cx="2066925" cy="3667125"/>
            </a:xfrm>
            <a:custGeom>
              <a:avLst/>
              <a:gdLst/>
              <a:ahLst/>
              <a:cxnLst/>
              <a:rect l="l" t="t" r="r" b="b"/>
              <a:pathLst>
                <a:path w="2066925" h="3667125">
                  <a:moveTo>
                    <a:pt x="1971996" y="3667124"/>
                  </a:moveTo>
                  <a:lnTo>
                    <a:pt x="94929" y="3667124"/>
                  </a:lnTo>
                  <a:lnTo>
                    <a:pt x="88321" y="3666473"/>
                  </a:lnTo>
                  <a:lnTo>
                    <a:pt x="50700" y="3653707"/>
                  </a:lnTo>
                  <a:lnTo>
                    <a:pt x="20828" y="3627516"/>
                  </a:lnTo>
                  <a:lnTo>
                    <a:pt x="3253" y="3591887"/>
                  </a:lnTo>
                  <a:lnTo>
                    <a:pt x="0" y="3572195"/>
                  </a:lnTo>
                  <a:lnTo>
                    <a:pt x="0" y="3565524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9" y="0"/>
                  </a:lnTo>
                  <a:lnTo>
                    <a:pt x="1971996" y="0"/>
                  </a:lnTo>
                  <a:lnTo>
                    <a:pt x="2010368" y="10286"/>
                  </a:lnTo>
                  <a:lnTo>
                    <a:pt x="2041884" y="34474"/>
                  </a:lnTo>
                  <a:lnTo>
                    <a:pt x="2061743" y="68882"/>
                  </a:lnTo>
                  <a:lnTo>
                    <a:pt x="2066924" y="94928"/>
                  </a:lnTo>
                  <a:lnTo>
                    <a:pt x="2066924" y="3572195"/>
                  </a:lnTo>
                  <a:lnTo>
                    <a:pt x="2056637" y="3610567"/>
                  </a:lnTo>
                  <a:lnTo>
                    <a:pt x="2032449" y="3642083"/>
                  </a:lnTo>
                  <a:lnTo>
                    <a:pt x="1998042" y="3661942"/>
                  </a:lnTo>
                  <a:lnTo>
                    <a:pt x="1978603" y="3666473"/>
                  </a:lnTo>
                  <a:lnTo>
                    <a:pt x="1971996" y="366712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67049" y="2809874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504824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504824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050331" y="3376294"/>
            <a:ext cx="1619250" cy="1382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Flight</a:t>
            </a:r>
            <a:r>
              <a:rPr dirty="0" sz="1800" spc="114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Search </a:t>
            </a:r>
            <a:r>
              <a:rPr dirty="0" sz="1800" spc="-15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0">
                <a:solidFill>
                  <a:srgbClr val="1D294A"/>
                </a:solidFill>
                <a:latin typeface="Century Gothic"/>
                <a:cs typeface="Century Gothic"/>
              </a:rPr>
              <a:t>Availability</a:t>
            </a:r>
            <a:endParaRPr sz="1800">
              <a:latin typeface="Century Gothic"/>
              <a:cs typeface="Century Gothic"/>
            </a:endParaRPr>
          </a:p>
          <a:p>
            <a:pPr marL="12700" marR="386080">
              <a:lnSpc>
                <a:spcPct val="113300"/>
              </a:lnSpc>
              <a:spcBef>
                <a:spcPts val="1535"/>
              </a:spcBef>
            </a:pP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Nikhil</a:t>
            </a:r>
            <a:r>
              <a:rPr dirty="0" sz="1600" spc="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60">
                <a:solidFill>
                  <a:srgbClr val="1D294A"/>
                </a:solidFill>
                <a:latin typeface="Century Gothic"/>
                <a:cs typeface="Century Gothic"/>
              </a:rPr>
              <a:t>Ranjan 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Choubey</a:t>
            </a:r>
            <a:endParaRPr sz="1600">
              <a:latin typeface="Century Gothic"/>
              <a:cs typeface="Century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057773" y="2581274"/>
            <a:ext cx="2076450" cy="3667125"/>
            <a:chOff x="5057773" y="2581274"/>
            <a:chExt cx="2076450" cy="3667125"/>
          </a:xfrm>
        </p:grpSpPr>
        <p:sp>
          <p:nvSpPr>
            <p:cNvPr id="15" name="object 15"/>
            <p:cNvSpPr/>
            <p:nvPr/>
          </p:nvSpPr>
          <p:spPr>
            <a:xfrm>
              <a:off x="5057773" y="2581274"/>
              <a:ext cx="2076450" cy="3667125"/>
            </a:xfrm>
            <a:custGeom>
              <a:avLst/>
              <a:gdLst/>
              <a:ahLst/>
              <a:cxnLst/>
              <a:rect l="l" t="t" r="r" b="b"/>
              <a:pathLst>
                <a:path w="2076450" h="3667125">
                  <a:moveTo>
                    <a:pt x="1981521" y="3667124"/>
                  </a:moveTo>
                  <a:lnTo>
                    <a:pt x="94929" y="3667124"/>
                  </a:lnTo>
                  <a:lnTo>
                    <a:pt x="88322" y="3666473"/>
                  </a:lnTo>
                  <a:lnTo>
                    <a:pt x="50700" y="3653707"/>
                  </a:lnTo>
                  <a:lnTo>
                    <a:pt x="20828" y="3627516"/>
                  </a:lnTo>
                  <a:lnTo>
                    <a:pt x="3253" y="3591887"/>
                  </a:lnTo>
                  <a:lnTo>
                    <a:pt x="0" y="3572195"/>
                  </a:lnTo>
                  <a:lnTo>
                    <a:pt x="0" y="3565524"/>
                  </a:lnTo>
                  <a:lnTo>
                    <a:pt x="0" y="94928"/>
                  </a:lnTo>
                  <a:lnTo>
                    <a:pt x="10285" y="56555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9" y="0"/>
                  </a:lnTo>
                  <a:lnTo>
                    <a:pt x="1981521" y="0"/>
                  </a:lnTo>
                  <a:lnTo>
                    <a:pt x="2019894" y="10286"/>
                  </a:lnTo>
                  <a:lnTo>
                    <a:pt x="2051409" y="34474"/>
                  </a:lnTo>
                  <a:lnTo>
                    <a:pt x="2071268" y="68882"/>
                  </a:lnTo>
                  <a:lnTo>
                    <a:pt x="2076450" y="94928"/>
                  </a:lnTo>
                  <a:lnTo>
                    <a:pt x="2076450" y="3572195"/>
                  </a:lnTo>
                  <a:lnTo>
                    <a:pt x="2066162" y="3610567"/>
                  </a:lnTo>
                  <a:lnTo>
                    <a:pt x="2041975" y="3642083"/>
                  </a:lnTo>
                  <a:lnTo>
                    <a:pt x="2007566" y="3661942"/>
                  </a:lnTo>
                  <a:lnTo>
                    <a:pt x="1988128" y="3666473"/>
                  </a:lnTo>
                  <a:lnTo>
                    <a:pt x="1981521" y="366712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286374" y="2809874"/>
              <a:ext cx="514350" cy="504825"/>
            </a:xfrm>
            <a:custGeom>
              <a:avLst/>
              <a:gdLst/>
              <a:ahLst/>
              <a:cxnLst/>
              <a:rect l="l" t="t" r="r" b="b"/>
              <a:pathLst>
                <a:path w="514350" h="504825">
                  <a:moveTo>
                    <a:pt x="514349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04824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275460" y="3376294"/>
            <a:ext cx="1417320" cy="141097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60"/>
              </a:spcBef>
            </a:pP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Booking</a:t>
            </a:r>
            <a:r>
              <a:rPr dirty="0" sz="1800" spc="-6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and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Passenger </a:t>
            </a:r>
            <a:r>
              <a:rPr dirty="0" sz="1800" spc="-130">
                <a:solidFill>
                  <a:srgbClr val="1D294A"/>
                </a:solidFill>
                <a:latin typeface="Century Gothic"/>
                <a:cs typeface="Century Gothic"/>
              </a:rPr>
              <a:t>Management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dirty="0" sz="1600" spc="-20">
                <a:solidFill>
                  <a:srgbClr val="1D294A"/>
                </a:solidFill>
                <a:latin typeface="Century Gothic"/>
                <a:cs typeface="Century Gothic"/>
              </a:rPr>
              <a:t>Mukesh</a:t>
            </a:r>
            <a:r>
              <a:rPr dirty="0" sz="1600" spc="-4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25">
                <a:solidFill>
                  <a:srgbClr val="1D294A"/>
                </a:solidFill>
                <a:latin typeface="Century Gothic"/>
                <a:cs typeface="Century Gothic"/>
              </a:rPr>
              <a:t>Sah</a:t>
            </a:r>
            <a:endParaRPr sz="160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286624" y="2581274"/>
            <a:ext cx="2066925" cy="3667125"/>
            <a:chOff x="7286624" y="2581274"/>
            <a:chExt cx="2066925" cy="3667125"/>
          </a:xfrm>
        </p:grpSpPr>
        <p:sp>
          <p:nvSpPr>
            <p:cNvPr id="19" name="object 19"/>
            <p:cNvSpPr/>
            <p:nvPr/>
          </p:nvSpPr>
          <p:spPr>
            <a:xfrm>
              <a:off x="7286624" y="2581274"/>
              <a:ext cx="2066925" cy="3667125"/>
            </a:xfrm>
            <a:custGeom>
              <a:avLst/>
              <a:gdLst/>
              <a:ahLst/>
              <a:cxnLst/>
              <a:rect l="l" t="t" r="r" b="b"/>
              <a:pathLst>
                <a:path w="2066925" h="3667125">
                  <a:moveTo>
                    <a:pt x="1971995" y="3667124"/>
                  </a:moveTo>
                  <a:lnTo>
                    <a:pt x="94929" y="3667124"/>
                  </a:lnTo>
                  <a:lnTo>
                    <a:pt x="88321" y="3666473"/>
                  </a:lnTo>
                  <a:lnTo>
                    <a:pt x="50699" y="3653707"/>
                  </a:lnTo>
                  <a:lnTo>
                    <a:pt x="20828" y="3627516"/>
                  </a:lnTo>
                  <a:lnTo>
                    <a:pt x="3253" y="3591887"/>
                  </a:lnTo>
                  <a:lnTo>
                    <a:pt x="0" y="3572195"/>
                  </a:lnTo>
                  <a:lnTo>
                    <a:pt x="0" y="3565524"/>
                  </a:lnTo>
                  <a:lnTo>
                    <a:pt x="0" y="94928"/>
                  </a:lnTo>
                  <a:lnTo>
                    <a:pt x="10285" y="56555"/>
                  </a:lnTo>
                  <a:lnTo>
                    <a:pt x="34474" y="25040"/>
                  </a:lnTo>
                  <a:lnTo>
                    <a:pt x="68881" y="5180"/>
                  </a:lnTo>
                  <a:lnTo>
                    <a:pt x="94929" y="0"/>
                  </a:lnTo>
                  <a:lnTo>
                    <a:pt x="1971995" y="0"/>
                  </a:lnTo>
                  <a:lnTo>
                    <a:pt x="2010367" y="10286"/>
                  </a:lnTo>
                  <a:lnTo>
                    <a:pt x="2041882" y="34474"/>
                  </a:lnTo>
                  <a:lnTo>
                    <a:pt x="2061743" y="68882"/>
                  </a:lnTo>
                  <a:lnTo>
                    <a:pt x="2066924" y="94928"/>
                  </a:lnTo>
                  <a:lnTo>
                    <a:pt x="2066924" y="3572195"/>
                  </a:lnTo>
                  <a:lnTo>
                    <a:pt x="2056637" y="3610567"/>
                  </a:lnTo>
                  <a:lnTo>
                    <a:pt x="2032448" y="3642083"/>
                  </a:lnTo>
                  <a:lnTo>
                    <a:pt x="1998041" y="3661942"/>
                  </a:lnTo>
                  <a:lnTo>
                    <a:pt x="1978602" y="3666473"/>
                  </a:lnTo>
                  <a:lnTo>
                    <a:pt x="1971995" y="366712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515224" y="2809874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504824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504824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500441" y="3376294"/>
            <a:ext cx="1451610" cy="1106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Ticketing</a:t>
            </a:r>
            <a:r>
              <a:rPr dirty="0" sz="1800" spc="-12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45">
                <a:solidFill>
                  <a:srgbClr val="1D294A"/>
                </a:solidFill>
                <a:latin typeface="Century Gothic"/>
                <a:cs typeface="Century Gothic"/>
              </a:rPr>
              <a:t>and 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Cancellation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1600" spc="-30">
                <a:solidFill>
                  <a:srgbClr val="1D294A"/>
                </a:solidFill>
                <a:latin typeface="Century Gothic"/>
                <a:cs typeface="Century Gothic"/>
              </a:rPr>
              <a:t>Muskan</a:t>
            </a:r>
            <a:r>
              <a:rPr dirty="0" sz="1600" spc="-6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25">
                <a:solidFill>
                  <a:srgbClr val="1D294A"/>
                </a:solidFill>
                <a:latin typeface="Century Gothic"/>
                <a:cs typeface="Century Gothic"/>
              </a:rPr>
              <a:t>Raj</a:t>
            </a:r>
            <a:endParaRPr sz="1600">
              <a:latin typeface="Century Gothic"/>
              <a:cs typeface="Century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505948" y="2581274"/>
            <a:ext cx="2076450" cy="3667125"/>
            <a:chOff x="9505948" y="2581274"/>
            <a:chExt cx="2076450" cy="3667125"/>
          </a:xfrm>
        </p:grpSpPr>
        <p:sp>
          <p:nvSpPr>
            <p:cNvPr id="23" name="object 23"/>
            <p:cNvSpPr/>
            <p:nvPr/>
          </p:nvSpPr>
          <p:spPr>
            <a:xfrm>
              <a:off x="9505948" y="2581274"/>
              <a:ext cx="2076450" cy="3667125"/>
            </a:xfrm>
            <a:custGeom>
              <a:avLst/>
              <a:gdLst/>
              <a:ahLst/>
              <a:cxnLst/>
              <a:rect l="l" t="t" r="r" b="b"/>
              <a:pathLst>
                <a:path w="2076450" h="3667125">
                  <a:moveTo>
                    <a:pt x="1981521" y="3667124"/>
                  </a:moveTo>
                  <a:lnTo>
                    <a:pt x="94929" y="3667124"/>
                  </a:lnTo>
                  <a:lnTo>
                    <a:pt x="88321" y="3666473"/>
                  </a:lnTo>
                  <a:lnTo>
                    <a:pt x="50700" y="3653707"/>
                  </a:lnTo>
                  <a:lnTo>
                    <a:pt x="20829" y="3627516"/>
                  </a:lnTo>
                  <a:lnTo>
                    <a:pt x="3253" y="3591887"/>
                  </a:lnTo>
                  <a:lnTo>
                    <a:pt x="0" y="3572195"/>
                  </a:lnTo>
                  <a:lnTo>
                    <a:pt x="0" y="3565524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9" y="0"/>
                  </a:lnTo>
                  <a:lnTo>
                    <a:pt x="1981521" y="0"/>
                  </a:lnTo>
                  <a:lnTo>
                    <a:pt x="2019893" y="10286"/>
                  </a:lnTo>
                  <a:lnTo>
                    <a:pt x="2051408" y="34474"/>
                  </a:lnTo>
                  <a:lnTo>
                    <a:pt x="2071268" y="68882"/>
                  </a:lnTo>
                  <a:lnTo>
                    <a:pt x="2076449" y="94928"/>
                  </a:lnTo>
                  <a:lnTo>
                    <a:pt x="2076449" y="3572195"/>
                  </a:lnTo>
                  <a:lnTo>
                    <a:pt x="2066162" y="3610567"/>
                  </a:lnTo>
                  <a:lnTo>
                    <a:pt x="2041974" y="3642083"/>
                  </a:lnTo>
                  <a:lnTo>
                    <a:pt x="2007566" y="3661942"/>
                  </a:lnTo>
                  <a:lnTo>
                    <a:pt x="1988127" y="3666473"/>
                  </a:lnTo>
                  <a:lnTo>
                    <a:pt x="1981521" y="366712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734549" y="2809874"/>
              <a:ext cx="514350" cy="504825"/>
            </a:xfrm>
            <a:custGeom>
              <a:avLst/>
              <a:gdLst/>
              <a:ahLst/>
              <a:cxnLst/>
              <a:rect l="l" t="t" r="r" b="b"/>
              <a:pathLst>
                <a:path w="514350" h="504825">
                  <a:moveTo>
                    <a:pt x="514349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04824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725570" y="3376294"/>
            <a:ext cx="1417320" cy="20015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12300"/>
              </a:lnSpc>
              <a:spcBef>
                <a:spcPts val="75"/>
              </a:spcBef>
            </a:pP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Admin Dashboard </a:t>
            </a:r>
            <a:r>
              <a:rPr dirty="0" sz="1800" spc="-15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Flight </a:t>
            </a:r>
            <a:r>
              <a:rPr dirty="0" sz="1800" spc="-130">
                <a:solidFill>
                  <a:srgbClr val="1D294A"/>
                </a:solidFill>
                <a:latin typeface="Century Gothic"/>
                <a:cs typeface="Century Gothic"/>
              </a:rPr>
              <a:t>Management</a:t>
            </a:r>
            <a:endParaRPr sz="1800">
              <a:latin typeface="Century Gothic"/>
              <a:cs typeface="Century Gothic"/>
            </a:endParaRPr>
          </a:p>
          <a:p>
            <a:pPr marL="12700" marR="350520">
              <a:lnSpc>
                <a:spcPct val="113300"/>
              </a:lnSpc>
              <a:spcBef>
                <a:spcPts val="1530"/>
              </a:spcBef>
            </a:pP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Prashant </a:t>
            </a:r>
            <a:r>
              <a:rPr dirty="0" sz="1600" spc="-80">
                <a:solidFill>
                  <a:srgbClr val="1D294A"/>
                </a:solidFill>
                <a:latin typeface="Century Gothic"/>
                <a:cs typeface="Century Gothic"/>
              </a:rPr>
              <a:t>Chaudhary</a:t>
            </a:r>
            <a:endParaRPr sz="1600">
              <a:latin typeface="Century Gothic"/>
              <a:cs typeface="Century Gothic"/>
            </a:endParaRPr>
          </a:p>
        </p:txBody>
      </p:sp>
      <p:pic>
        <p:nvPicPr>
          <p:cNvPr id="26" name="object 26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609599"/>
            <a:ext cx="466725" cy="285750"/>
          </a:xfrm>
          <a:custGeom>
            <a:avLst/>
            <a:gdLst/>
            <a:ahLst/>
            <a:cxnLst/>
            <a:rect l="l" t="t" r="r" b="b"/>
            <a:pathLst>
              <a:path w="466725" h="285750">
                <a:moveTo>
                  <a:pt x="395528" y="285749"/>
                </a:moveTo>
                <a:lnTo>
                  <a:pt x="71196" y="285749"/>
                </a:lnTo>
                <a:lnTo>
                  <a:pt x="66241" y="285261"/>
                </a:lnTo>
                <a:lnTo>
                  <a:pt x="29705" y="270128"/>
                </a:lnTo>
                <a:lnTo>
                  <a:pt x="3885" y="234087"/>
                </a:lnTo>
                <a:lnTo>
                  <a:pt x="0" y="214553"/>
                </a:lnTo>
                <a:lnTo>
                  <a:pt x="0" y="2095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395528" y="0"/>
                </a:lnTo>
                <a:lnTo>
                  <a:pt x="437019" y="15621"/>
                </a:lnTo>
                <a:lnTo>
                  <a:pt x="462839" y="51661"/>
                </a:lnTo>
                <a:lnTo>
                  <a:pt x="466725" y="71196"/>
                </a:lnTo>
                <a:lnTo>
                  <a:pt x="466725" y="214553"/>
                </a:lnTo>
                <a:lnTo>
                  <a:pt x="451103" y="256044"/>
                </a:lnTo>
                <a:lnTo>
                  <a:pt x="415062" y="281864"/>
                </a:lnTo>
                <a:lnTo>
                  <a:pt x="400483" y="285261"/>
                </a:lnTo>
                <a:lnTo>
                  <a:pt x="395528" y="285749"/>
                </a:lnTo>
                <a:close/>
              </a:path>
            </a:pathLst>
          </a:custGeom>
          <a:solidFill>
            <a:srgbClr val="D0DE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1199" y="634428"/>
            <a:ext cx="25082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155" b="1">
                <a:solidFill>
                  <a:srgbClr val="1D294A"/>
                </a:solidFill>
                <a:latin typeface="Century Gothic"/>
                <a:cs typeface="Century Gothic"/>
              </a:rPr>
              <a:t>06</a:t>
            </a:r>
            <a:endParaRPr sz="125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96899" y="955706"/>
            <a:ext cx="5629275" cy="981710"/>
          </a:xfrm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740"/>
              </a:spcBef>
            </a:pPr>
            <a:r>
              <a:rPr dirty="0" spc="-240"/>
              <a:t>Booking</a:t>
            </a:r>
            <a:r>
              <a:rPr dirty="0" spc="-390"/>
              <a:t> </a:t>
            </a:r>
            <a:r>
              <a:rPr dirty="0"/>
              <a:t>is</a:t>
            </a:r>
            <a:r>
              <a:rPr dirty="0" spc="-390"/>
              <a:t> </a:t>
            </a:r>
            <a:r>
              <a:rPr dirty="0" spc="-254"/>
              <a:t>validated</a:t>
            </a:r>
            <a:r>
              <a:rPr dirty="0" spc="-390"/>
              <a:t> </a:t>
            </a:r>
            <a:r>
              <a:rPr dirty="0" spc="-260"/>
              <a:t>before</a:t>
            </a:r>
            <a:r>
              <a:rPr dirty="0" spc="-390"/>
              <a:t> </a:t>
            </a:r>
            <a:r>
              <a:rPr dirty="0"/>
              <a:t>it</a:t>
            </a:r>
            <a:r>
              <a:rPr dirty="0" spc="-390"/>
              <a:t> </a:t>
            </a:r>
            <a:r>
              <a:rPr dirty="0" spc="-25"/>
              <a:t>is </a:t>
            </a:r>
            <a:r>
              <a:rPr dirty="0" spc="-295"/>
              <a:t>committed</a:t>
            </a:r>
          </a:p>
        </p:txBody>
      </p:sp>
      <p:sp>
        <p:nvSpPr>
          <p:cNvPr id="5" name="object 5"/>
          <p:cNvSpPr/>
          <p:nvPr/>
        </p:nvSpPr>
        <p:spPr>
          <a:xfrm>
            <a:off x="609600" y="2066925"/>
            <a:ext cx="609600" cy="1219200"/>
          </a:xfrm>
          <a:custGeom>
            <a:avLst/>
            <a:gdLst/>
            <a:ahLst/>
            <a:cxnLst/>
            <a:rect l="l" t="t" r="r" b="b"/>
            <a:pathLst>
              <a:path w="609600" h="1219200">
                <a:moveTo>
                  <a:pt x="101599" y="0"/>
                </a:moveTo>
                <a:lnTo>
                  <a:pt x="507999" y="0"/>
                </a:lnTo>
                <a:lnTo>
                  <a:pt x="507999" y="914399"/>
                </a:lnTo>
                <a:lnTo>
                  <a:pt x="609598" y="914399"/>
                </a:lnTo>
                <a:lnTo>
                  <a:pt x="304799" y="1219199"/>
                </a:lnTo>
                <a:lnTo>
                  <a:pt x="0" y="914399"/>
                </a:lnTo>
                <a:lnTo>
                  <a:pt x="101599" y="914399"/>
                </a:lnTo>
                <a:lnTo>
                  <a:pt x="101599" y="0"/>
                </a:lnTo>
                <a:close/>
              </a:path>
            </a:pathLst>
          </a:custGeom>
          <a:ln w="12699">
            <a:solidFill>
              <a:srgbClr val="D8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9650" y="2233295"/>
            <a:ext cx="4443730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 spc="-105" b="1">
                <a:solidFill>
                  <a:srgbClr val="1D294A"/>
                </a:solidFill>
                <a:latin typeface="Century Gothic"/>
                <a:cs typeface="Century Gothic"/>
              </a:rPr>
              <a:t>Login</a:t>
            </a:r>
            <a:r>
              <a:rPr dirty="0" sz="1800" spc="-21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80" b="1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-21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20" b="1">
                <a:solidFill>
                  <a:srgbClr val="1D294A"/>
                </a:solidFill>
                <a:latin typeface="Century Gothic"/>
                <a:cs typeface="Century Gothic"/>
              </a:rPr>
              <a:t>Search</a:t>
            </a:r>
            <a:r>
              <a:rPr dirty="0" sz="1800" spc="-204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45" b="1">
                <a:solidFill>
                  <a:srgbClr val="1D294A"/>
                </a:solidFill>
                <a:latin typeface="Century Gothic"/>
                <a:cs typeface="Century Gothic"/>
              </a:rPr>
              <a:t>Flights</a:t>
            </a:r>
            <a:r>
              <a:rPr dirty="0" sz="1800" spc="-21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80" b="1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-21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20" b="1">
                <a:solidFill>
                  <a:srgbClr val="1D294A"/>
                </a:solidFill>
                <a:latin typeface="Century Gothic"/>
                <a:cs typeface="Century Gothic"/>
              </a:rPr>
              <a:t>Select</a:t>
            </a:r>
            <a:r>
              <a:rPr dirty="0" sz="1800" spc="-204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5" b="1">
                <a:solidFill>
                  <a:srgbClr val="1D294A"/>
                </a:solidFill>
                <a:latin typeface="Century Gothic"/>
                <a:cs typeface="Century Gothic"/>
              </a:rPr>
              <a:t>Flight</a:t>
            </a:r>
            <a:r>
              <a:rPr dirty="0" sz="1800" spc="-21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80" b="1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-21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 b="1">
                <a:solidFill>
                  <a:srgbClr val="1D294A"/>
                </a:solidFill>
                <a:latin typeface="Century Gothic"/>
                <a:cs typeface="Century Gothic"/>
              </a:rPr>
              <a:t>Enter </a:t>
            </a:r>
            <a:r>
              <a:rPr dirty="0" sz="1800" spc="-105" b="1">
                <a:solidFill>
                  <a:srgbClr val="1D294A"/>
                </a:solidFill>
                <a:latin typeface="Century Gothic"/>
                <a:cs typeface="Century Gothic"/>
              </a:rPr>
              <a:t>Passenger</a:t>
            </a:r>
            <a:r>
              <a:rPr dirty="0" sz="1800" spc="-15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 b="1">
                <a:solidFill>
                  <a:srgbClr val="1D294A"/>
                </a:solidFill>
                <a:latin typeface="Century Gothic"/>
                <a:cs typeface="Century Gothic"/>
              </a:rPr>
              <a:t>Details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3486150"/>
            <a:ext cx="609600" cy="1219200"/>
          </a:xfrm>
          <a:custGeom>
            <a:avLst/>
            <a:gdLst/>
            <a:ahLst/>
            <a:cxnLst/>
            <a:rect l="l" t="t" r="r" b="b"/>
            <a:pathLst>
              <a:path w="609600" h="1219200">
                <a:moveTo>
                  <a:pt x="101599" y="0"/>
                </a:moveTo>
                <a:lnTo>
                  <a:pt x="507999" y="0"/>
                </a:lnTo>
                <a:lnTo>
                  <a:pt x="507999" y="914399"/>
                </a:lnTo>
                <a:lnTo>
                  <a:pt x="609598" y="914399"/>
                </a:lnTo>
                <a:lnTo>
                  <a:pt x="304799" y="1219199"/>
                </a:lnTo>
                <a:lnTo>
                  <a:pt x="0" y="914399"/>
                </a:lnTo>
                <a:lnTo>
                  <a:pt x="101599" y="914399"/>
                </a:lnTo>
                <a:lnTo>
                  <a:pt x="101599" y="0"/>
                </a:lnTo>
                <a:close/>
              </a:path>
            </a:pathLst>
          </a:custGeom>
          <a:ln w="12699">
            <a:solidFill>
              <a:srgbClr val="D8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14450" y="3671569"/>
            <a:ext cx="45085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800" spc="-140" b="1">
                <a:solidFill>
                  <a:srgbClr val="1D294A"/>
                </a:solidFill>
                <a:latin typeface="Century Gothic"/>
                <a:cs typeface="Century Gothic"/>
              </a:rPr>
              <a:t>Validate</a:t>
            </a:r>
            <a:r>
              <a:rPr dirty="0" sz="1800" spc="-19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5" b="1">
                <a:solidFill>
                  <a:srgbClr val="1D294A"/>
                </a:solidFill>
                <a:latin typeface="Century Gothic"/>
                <a:cs typeface="Century Gothic"/>
              </a:rPr>
              <a:t>availability</a:t>
            </a:r>
            <a:r>
              <a:rPr dirty="0" sz="1800" spc="-185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80" b="1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-185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75" b="1">
                <a:solidFill>
                  <a:srgbClr val="1D294A"/>
                </a:solidFill>
                <a:latin typeface="Century Gothic"/>
                <a:cs typeface="Century Gothic"/>
              </a:rPr>
              <a:t>Generate</a:t>
            </a:r>
            <a:r>
              <a:rPr dirty="0" sz="1800" spc="-185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35" b="1">
                <a:solidFill>
                  <a:srgbClr val="1D294A"/>
                </a:solidFill>
                <a:latin typeface="Century Gothic"/>
                <a:cs typeface="Century Gothic"/>
              </a:rPr>
              <a:t>unique</a:t>
            </a:r>
            <a:r>
              <a:rPr dirty="0" sz="1800" spc="-19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0" b="1">
                <a:solidFill>
                  <a:srgbClr val="1D294A"/>
                </a:solidFill>
                <a:latin typeface="Century Gothic"/>
                <a:cs typeface="Century Gothic"/>
              </a:rPr>
              <a:t>PNR</a:t>
            </a:r>
            <a:r>
              <a:rPr dirty="0" sz="1800" spc="-185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65" b="1">
                <a:solidFill>
                  <a:srgbClr val="1D294A"/>
                </a:solidFill>
                <a:latin typeface="Century Gothic"/>
                <a:cs typeface="Century Gothic"/>
              </a:rPr>
              <a:t>→ </a:t>
            </a:r>
            <a:r>
              <a:rPr dirty="0" sz="1800" spc="-125" b="1">
                <a:solidFill>
                  <a:srgbClr val="1D294A"/>
                </a:solidFill>
                <a:latin typeface="Century Gothic"/>
                <a:cs typeface="Century Gothic"/>
              </a:rPr>
              <a:t>Save</a:t>
            </a:r>
            <a:r>
              <a:rPr dirty="0" sz="1800" spc="-21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 b="1">
                <a:solidFill>
                  <a:srgbClr val="1D294A"/>
                </a:solidFill>
                <a:latin typeface="Century Gothic"/>
                <a:cs typeface="Century Gothic"/>
              </a:rPr>
              <a:t>booking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19200" y="4914899"/>
            <a:ext cx="609600" cy="1219200"/>
          </a:xfrm>
          <a:custGeom>
            <a:avLst/>
            <a:gdLst/>
            <a:ahLst/>
            <a:cxnLst/>
            <a:rect l="l" t="t" r="r" b="b"/>
            <a:pathLst>
              <a:path w="609600" h="1219200">
                <a:moveTo>
                  <a:pt x="101599" y="0"/>
                </a:moveTo>
                <a:lnTo>
                  <a:pt x="507999" y="0"/>
                </a:lnTo>
                <a:lnTo>
                  <a:pt x="507999" y="914399"/>
                </a:lnTo>
                <a:lnTo>
                  <a:pt x="609598" y="914399"/>
                </a:lnTo>
                <a:lnTo>
                  <a:pt x="304799" y="1219199"/>
                </a:lnTo>
                <a:lnTo>
                  <a:pt x="0" y="914399"/>
                </a:lnTo>
                <a:lnTo>
                  <a:pt x="101599" y="914399"/>
                </a:lnTo>
                <a:lnTo>
                  <a:pt x="101599" y="0"/>
                </a:lnTo>
                <a:close/>
              </a:path>
            </a:pathLst>
          </a:custGeom>
          <a:ln w="12699">
            <a:solidFill>
              <a:srgbClr val="D8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019250" y="5121275"/>
            <a:ext cx="3452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25" b="1">
                <a:solidFill>
                  <a:srgbClr val="1D294A"/>
                </a:solidFill>
                <a:latin typeface="Century Gothic"/>
                <a:cs typeface="Century Gothic"/>
              </a:rPr>
              <a:t>Booking</a:t>
            </a:r>
            <a:r>
              <a:rPr dirty="0" sz="1800" spc="-195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5" b="1">
                <a:solidFill>
                  <a:srgbClr val="1D294A"/>
                </a:solidFill>
                <a:latin typeface="Century Gothic"/>
                <a:cs typeface="Century Gothic"/>
              </a:rPr>
              <a:t>confirmation</a:t>
            </a:r>
            <a:r>
              <a:rPr dirty="0" sz="1800" spc="-19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80" b="1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-19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14" b="1">
                <a:solidFill>
                  <a:srgbClr val="1D294A"/>
                </a:solidFill>
                <a:latin typeface="Century Gothic"/>
                <a:cs typeface="Century Gothic"/>
              </a:rPr>
              <a:t>View</a:t>
            </a:r>
            <a:r>
              <a:rPr dirty="0" sz="1800" spc="-19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80" b="1">
                <a:solidFill>
                  <a:srgbClr val="1D294A"/>
                </a:solidFill>
                <a:latin typeface="Century Gothic"/>
                <a:cs typeface="Century Gothic"/>
              </a:rPr>
              <a:t>ticket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39024" y="0"/>
            <a:ext cx="4752975" cy="6858000"/>
            <a:chOff x="7439024" y="0"/>
            <a:chExt cx="4752975" cy="6858000"/>
          </a:xfrm>
        </p:grpSpPr>
        <p:sp>
          <p:nvSpPr>
            <p:cNvPr id="12" name="object 12"/>
            <p:cNvSpPr/>
            <p:nvPr/>
          </p:nvSpPr>
          <p:spPr>
            <a:xfrm>
              <a:off x="7439024" y="0"/>
              <a:ext cx="4752975" cy="6858000"/>
            </a:xfrm>
            <a:custGeom>
              <a:avLst/>
              <a:gdLst/>
              <a:ahLst/>
              <a:cxnLst/>
              <a:rect l="l" t="t" r="r" b="b"/>
              <a:pathLst>
                <a:path w="4752975" h="6858000">
                  <a:moveTo>
                    <a:pt x="4658046" y="6857999"/>
                  </a:moveTo>
                  <a:lnTo>
                    <a:pt x="94929" y="6857999"/>
                  </a:lnTo>
                  <a:lnTo>
                    <a:pt x="88321" y="6857348"/>
                  </a:lnTo>
                  <a:lnTo>
                    <a:pt x="50700" y="6844582"/>
                  </a:lnTo>
                  <a:lnTo>
                    <a:pt x="20828" y="6818392"/>
                  </a:lnTo>
                  <a:lnTo>
                    <a:pt x="3253" y="6782762"/>
                  </a:lnTo>
                  <a:lnTo>
                    <a:pt x="0" y="6763070"/>
                  </a:lnTo>
                  <a:lnTo>
                    <a:pt x="0" y="6756399"/>
                  </a:lnTo>
                  <a:lnTo>
                    <a:pt x="0" y="94928"/>
                  </a:lnTo>
                  <a:lnTo>
                    <a:pt x="10285" y="56556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9" y="0"/>
                  </a:lnTo>
                  <a:lnTo>
                    <a:pt x="4658046" y="0"/>
                  </a:lnTo>
                  <a:lnTo>
                    <a:pt x="4696418" y="10286"/>
                  </a:lnTo>
                  <a:lnTo>
                    <a:pt x="4727933" y="34475"/>
                  </a:lnTo>
                  <a:lnTo>
                    <a:pt x="4747791" y="68882"/>
                  </a:lnTo>
                  <a:lnTo>
                    <a:pt x="4752974" y="94928"/>
                  </a:lnTo>
                  <a:lnTo>
                    <a:pt x="4752974" y="6763070"/>
                  </a:lnTo>
                  <a:lnTo>
                    <a:pt x="4742686" y="6801442"/>
                  </a:lnTo>
                  <a:lnTo>
                    <a:pt x="4718499" y="6832958"/>
                  </a:lnTo>
                  <a:lnTo>
                    <a:pt x="4684092" y="6852817"/>
                  </a:lnTo>
                  <a:lnTo>
                    <a:pt x="4664652" y="6857348"/>
                  </a:lnTo>
                  <a:lnTo>
                    <a:pt x="4658046" y="6857999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6724" y="2676524"/>
              <a:ext cx="66675" cy="666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6724" y="3286124"/>
              <a:ext cx="66675" cy="666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6724" y="3895724"/>
              <a:ext cx="66675" cy="6667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033990" y="1993931"/>
            <a:ext cx="3559175" cy="2839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1D294A"/>
                </a:solidFill>
                <a:latin typeface="Century Gothic"/>
                <a:cs typeface="Century Gothic"/>
              </a:rPr>
              <a:t>Controls</a:t>
            </a:r>
            <a:r>
              <a:rPr dirty="0" sz="2200" spc="-7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2200" spc="-75">
                <a:solidFill>
                  <a:srgbClr val="1D294A"/>
                </a:solidFill>
                <a:latin typeface="Century Gothic"/>
                <a:cs typeface="Century Gothic"/>
              </a:rPr>
              <a:t>before</a:t>
            </a:r>
            <a:r>
              <a:rPr dirty="0" sz="2200" spc="-7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2200" spc="-10">
                <a:solidFill>
                  <a:srgbClr val="1D294A"/>
                </a:solidFill>
                <a:latin typeface="Century Gothic"/>
                <a:cs typeface="Century Gothic"/>
              </a:rPr>
              <a:t>commit</a:t>
            </a:r>
            <a:endParaRPr sz="2200">
              <a:latin typeface="Century Gothic"/>
              <a:cs typeface="Century Gothic"/>
            </a:endParaRPr>
          </a:p>
          <a:p>
            <a:pPr marL="337185" marR="735330">
              <a:lnSpc>
                <a:spcPct val="113300"/>
              </a:lnSpc>
              <a:spcBef>
                <a:spcPts val="1605"/>
              </a:spcBef>
            </a:pPr>
            <a:r>
              <a:rPr dirty="0" sz="1600" spc="45">
                <a:solidFill>
                  <a:srgbClr val="1D294A"/>
                </a:solidFill>
                <a:latin typeface="Century Gothic"/>
                <a:cs typeface="Century Gothic"/>
              </a:rPr>
              <a:t>Server-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side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70">
                <a:solidFill>
                  <a:srgbClr val="1D294A"/>
                </a:solidFill>
                <a:latin typeface="Century Gothic"/>
                <a:cs typeface="Century Gothic"/>
              </a:rPr>
              <a:t>validation</a:t>
            </a:r>
            <a:r>
              <a:rPr dirty="0" sz="16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80">
                <a:solidFill>
                  <a:srgbClr val="1D294A"/>
                </a:solidFill>
                <a:latin typeface="Century Gothic"/>
                <a:cs typeface="Century Gothic"/>
              </a:rPr>
              <a:t>and </a:t>
            </a:r>
            <a:r>
              <a:rPr dirty="0" sz="1600" spc="-45">
                <a:solidFill>
                  <a:srgbClr val="1D294A"/>
                </a:solidFill>
                <a:latin typeface="Century Gothic"/>
                <a:cs typeface="Century Gothic"/>
              </a:rPr>
              <a:t>availability</a:t>
            </a:r>
            <a:r>
              <a:rPr dirty="0" sz="1600" spc="-3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rechecking</a:t>
            </a:r>
            <a:endParaRPr sz="1600">
              <a:latin typeface="Century Gothic"/>
              <a:cs typeface="Century Gothic"/>
            </a:endParaRPr>
          </a:p>
          <a:p>
            <a:pPr marL="337185" marR="185420">
              <a:lnSpc>
                <a:spcPct val="125000"/>
              </a:lnSpc>
              <a:spcBef>
                <a:spcPts val="225"/>
              </a:spcBef>
            </a:pPr>
            <a:r>
              <a:rPr dirty="0" sz="1600" spc="-35">
                <a:solidFill>
                  <a:srgbClr val="1D294A"/>
                </a:solidFill>
                <a:latin typeface="Century Gothic"/>
                <a:cs typeface="Century Gothic"/>
              </a:rPr>
              <a:t>Unique</a:t>
            </a:r>
            <a:r>
              <a:rPr dirty="0" sz="1600" spc="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PNR</a:t>
            </a:r>
            <a:r>
              <a:rPr dirty="0" sz="1600" spc="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60">
                <a:solidFill>
                  <a:srgbClr val="1D294A"/>
                </a:solidFill>
                <a:latin typeface="Century Gothic"/>
                <a:cs typeface="Century Gothic"/>
              </a:rPr>
              <a:t>generation</a:t>
            </a:r>
            <a:r>
              <a:rPr dirty="0" sz="1600" spc="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with</a:t>
            </a:r>
            <a:r>
              <a:rPr dirty="0" sz="1600" spc="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50">
                <a:solidFill>
                  <a:srgbClr val="1D294A"/>
                </a:solidFill>
                <a:latin typeface="Century Gothic"/>
                <a:cs typeface="Century Gothic"/>
              </a:rPr>
              <a:t>a </a:t>
            </a:r>
            <a:r>
              <a:rPr dirty="0" sz="1600" spc="-105">
                <a:solidFill>
                  <a:srgbClr val="1D294A"/>
                </a:solidFill>
                <a:latin typeface="Century Gothic"/>
                <a:cs typeface="Century Gothic"/>
              </a:rPr>
              <a:t>database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20">
                <a:solidFill>
                  <a:srgbClr val="1D294A"/>
                </a:solidFill>
                <a:latin typeface="Century Gothic"/>
                <a:cs typeface="Century Gothic"/>
              </a:rPr>
              <a:t>uniqueness</a:t>
            </a:r>
            <a:r>
              <a:rPr dirty="0" sz="16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constraint </a:t>
            </a:r>
            <a:r>
              <a:rPr dirty="0" sz="1600" spc="-95">
                <a:solidFill>
                  <a:srgbClr val="1D294A"/>
                </a:solidFill>
                <a:latin typeface="Century Gothic"/>
                <a:cs typeface="Century Gothic"/>
              </a:rPr>
              <a:t>Database</a:t>
            </a:r>
            <a:r>
              <a:rPr dirty="0" sz="16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transactions </a:t>
            </a:r>
            <a:r>
              <a:rPr dirty="0" sz="1600" spc="-25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endParaRPr sz="1600">
              <a:latin typeface="Century Gothic"/>
              <a:cs typeface="Century Gothic"/>
            </a:endParaRPr>
          </a:p>
          <a:p>
            <a:pPr marL="337185">
              <a:lnSpc>
                <a:spcPct val="100000"/>
              </a:lnSpc>
              <a:spcBef>
                <a:spcPts val="330"/>
              </a:spcBef>
            </a:pPr>
            <a:r>
              <a:rPr dirty="0" sz="1600" spc="-65">
                <a:solidFill>
                  <a:srgbClr val="1D294A"/>
                </a:solidFill>
                <a:latin typeface="Century Gothic"/>
                <a:cs typeface="Century Gothic"/>
              </a:rPr>
              <a:t>duplicate-</a:t>
            </a:r>
            <a:r>
              <a:rPr dirty="0" sz="1600">
                <a:solidFill>
                  <a:srgbClr val="1D294A"/>
                </a:solidFill>
                <a:latin typeface="Century Gothic"/>
                <a:cs typeface="Century Gothic"/>
              </a:rPr>
              <a:t>submission</a:t>
            </a:r>
            <a:r>
              <a:rPr dirty="0" sz="1600" spc="114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600" spc="-10">
                <a:solidFill>
                  <a:srgbClr val="1D294A"/>
                </a:solidFill>
                <a:latin typeface="Century Gothic"/>
                <a:cs typeface="Century Gothic"/>
              </a:rPr>
              <a:t>prevention</a:t>
            </a:r>
            <a:endParaRPr sz="1600">
              <a:latin typeface="Century Gothic"/>
              <a:cs typeface="Century Gothic"/>
            </a:endParaRPr>
          </a:p>
          <a:p>
            <a:pPr marL="12700" marR="5080">
              <a:lnSpc>
                <a:spcPct val="108700"/>
              </a:lnSpc>
              <a:spcBef>
                <a:spcPts val="885"/>
              </a:spcBef>
            </a:pPr>
            <a:r>
              <a:rPr dirty="0" sz="1150">
                <a:solidFill>
                  <a:srgbClr val="1D294A"/>
                </a:solidFill>
                <a:latin typeface="Century Gothic"/>
                <a:cs typeface="Century Gothic"/>
              </a:rPr>
              <a:t>The </a:t>
            </a:r>
            <a:r>
              <a:rPr dirty="0" sz="1150" spc="-20">
                <a:solidFill>
                  <a:srgbClr val="1D294A"/>
                </a:solidFill>
                <a:latin typeface="Century Gothic"/>
                <a:cs typeface="Century Gothic"/>
              </a:rPr>
              <a:t>baseline</a:t>
            </a:r>
            <a:r>
              <a:rPr dirty="0" sz="115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150" spc="-25">
                <a:solidFill>
                  <a:srgbClr val="1D294A"/>
                </a:solidFill>
                <a:latin typeface="Century Gothic"/>
                <a:cs typeface="Century Gothic"/>
              </a:rPr>
              <a:t>excludes</a:t>
            </a:r>
            <a:r>
              <a:rPr dirty="0" sz="1150">
                <a:solidFill>
                  <a:srgbClr val="1D294A"/>
                </a:solidFill>
                <a:latin typeface="Century Gothic"/>
                <a:cs typeface="Century Gothic"/>
              </a:rPr>
              <a:t> verified</a:t>
            </a:r>
            <a:r>
              <a:rPr dirty="0" sz="115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150" spc="-50">
                <a:solidFill>
                  <a:srgbClr val="1D294A"/>
                </a:solidFill>
                <a:latin typeface="Century Gothic"/>
                <a:cs typeface="Century Gothic"/>
              </a:rPr>
              <a:t>payment</a:t>
            </a:r>
            <a:r>
              <a:rPr dirty="0" sz="115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D294A"/>
                </a:solidFill>
                <a:latin typeface="Century Gothic"/>
                <a:cs typeface="Century Gothic"/>
              </a:rPr>
              <a:t>processing </a:t>
            </a:r>
            <a:r>
              <a:rPr dirty="0" sz="1150" spc="-85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15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D294A"/>
                </a:solidFill>
                <a:latin typeface="Century Gothic"/>
                <a:cs typeface="Century Gothic"/>
              </a:rPr>
              <a:t>live</a:t>
            </a:r>
            <a:r>
              <a:rPr dirty="0" sz="1150" spc="-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D294A"/>
                </a:solidFill>
                <a:latin typeface="Century Gothic"/>
                <a:cs typeface="Century Gothic"/>
              </a:rPr>
              <a:t>airline</a:t>
            </a:r>
            <a:r>
              <a:rPr dirty="0" sz="1150" spc="-2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D294A"/>
                </a:solidFill>
                <a:latin typeface="Century Gothic"/>
                <a:cs typeface="Century Gothic"/>
              </a:rPr>
              <a:t>inventory.</a:t>
            </a:r>
            <a:endParaRPr sz="1150">
              <a:latin typeface="Century Gothic"/>
              <a:cs typeface="Century Gothic"/>
            </a:endParaRPr>
          </a:p>
        </p:txBody>
      </p:sp>
      <p:pic>
        <p:nvPicPr>
          <p:cNvPr id="17" name="object 17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199" y="1729803"/>
            <a:ext cx="23241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85" b="1">
                <a:solidFill>
                  <a:srgbClr val="7EA6F1"/>
                </a:solidFill>
                <a:latin typeface="Century Gothic"/>
                <a:cs typeface="Century Gothic"/>
              </a:rPr>
              <a:t>07</a:t>
            </a:r>
            <a:endParaRPr sz="125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6899" y="2127281"/>
            <a:ext cx="2522855" cy="1867535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ct val="85200"/>
              </a:lnSpc>
              <a:spcBef>
                <a:spcPts val="700"/>
              </a:spcBef>
            </a:pPr>
            <a:r>
              <a:rPr dirty="0" spc="-65"/>
              <a:t>The</a:t>
            </a:r>
            <a:r>
              <a:rPr dirty="0" spc="-420"/>
              <a:t> </a:t>
            </a:r>
            <a:r>
              <a:rPr dirty="0" spc="-305"/>
              <a:t>proposed </a:t>
            </a:r>
            <a:r>
              <a:rPr dirty="0" spc="-310"/>
              <a:t>database </a:t>
            </a:r>
            <a:r>
              <a:rPr dirty="0" spc="-90"/>
              <a:t>preserves </a:t>
            </a:r>
            <a:r>
              <a:rPr dirty="0" spc="-120"/>
              <a:t>traceability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6899" y="4159878"/>
            <a:ext cx="2746375" cy="977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Show</a:t>
            </a:r>
            <a:r>
              <a:rPr dirty="0" sz="1150" spc="4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primary</a:t>
            </a:r>
            <a:r>
              <a:rPr dirty="0" sz="1150" spc="4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keys,</a:t>
            </a:r>
            <a:r>
              <a:rPr dirty="0" sz="1150" spc="1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foreign</a:t>
            </a:r>
            <a:r>
              <a:rPr dirty="0" sz="1150" spc="50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20">
                <a:solidFill>
                  <a:srgbClr val="2948A2"/>
                </a:solidFill>
                <a:latin typeface="Century Gothic"/>
                <a:cs typeface="Century Gothic"/>
              </a:rPr>
              <a:t>keys, </a:t>
            </a:r>
            <a:r>
              <a:rPr dirty="0" sz="1150" spc="-30">
                <a:solidFill>
                  <a:srgbClr val="2948A2"/>
                </a:solidFill>
                <a:latin typeface="Century Gothic"/>
                <a:cs typeface="Century Gothic"/>
              </a:rPr>
              <a:t>unique</a:t>
            </a:r>
            <a:r>
              <a:rPr dirty="0" sz="1150" spc="60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PNR,</a:t>
            </a:r>
            <a:r>
              <a:rPr dirty="0" sz="1150" spc="2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85">
                <a:solidFill>
                  <a:srgbClr val="2948A2"/>
                </a:solidFill>
                <a:latin typeface="Century Gothic"/>
                <a:cs typeface="Century Gothic"/>
              </a:rPr>
              <a:t>and</a:t>
            </a:r>
            <a:r>
              <a:rPr dirty="0" sz="1150" spc="60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relationships</a:t>
            </a:r>
            <a:r>
              <a:rPr dirty="0" sz="1150" spc="60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35">
                <a:solidFill>
                  <a:srgbClr val="2948A2"/>
                </a:solidFill>
                <a:latin typeface="Century Gothic"/>
                <a:cs typeface="Century Gothic"/>
              </a:rPr>
              <a:t>between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users,</a:t>
            </a:r>
            <a:r>
              <a:rPr dirty="0" sz="1150" spc="130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flights,</a:t>
            </a:r>
            <a:r>
              <a:rPr dirty="0" sz="1150" spc="1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2948A2"/>
                </a:solidFill>
                <a:latin typeface="Century Gothic"/>
                <a:cs typeface="Century Gothic"/>
              </a:rPr>
              <a:t>bookings,</a:t>
            </a:r>
            <a:r>
              <a:rPr dirty="0" sz="1150" spc="1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2948A2"/>
                </a:solidFill>
                <a:latin typeface="Century Gothic"/>
                <a:cs typeface="Century Gothic"/>
              </a:rPr>
              <a:t>passengers, </a:t>
            </a:r>
            <a:r>
              <a:rPr dirty="0" sz="1150" spc="-85">
                <a:solidFill>
                  <a:srgbClr val="2948A2"/>
                </a:solidFill>
                <a:latin typeface="Century Gothic"/>
                <a:cs typeface="Century Gothic"/>
              </a:rPr>
              <a:t>and</a:t>
            </a:r>
            <a:r>
              <a:rPr dirty="0" sz="1150" spc="2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tickets.</a:t>
            </a:r>
            <a:r>
              <a:rPr dirty="0" sz="1150" spc="-10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20">
                <a:solidFill>
                  <a:srgbClr val="2948A2"/>
                </a:solidFill>
                <a:latin typeface="Century Gothic"/>
                <a:cs typeface="Century Gothic"/>
              </a:rPr>
              <a:t>Label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50">
                <a:solidFill>
                  <a:srgbClr val="2948A2"/>
                </a:solidFill>
                <a:latin typeface="Century Gothic"/>
                <a:cs typeface="Century Gothic"/>
              </a:rPr>
              <a:t>this</a:t>
            </a:r>
            <a:r>
              <a:rPr dirty="0" sz="1150" spc="2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2948A2"/>
                </a:solidFill>
                <a:latin typeface="Century Gothic"/>
                <a:cs typeface="Century Gothic"/>
              </a:rPr>
              <a:t>proposed </a:t>
            </a:r>
            <a:r>
              <a:rPr dirty="0" sz="1150" spc="-55">
                <a:solidFill>
                  <a:srgbClr val="2948A2"/>
                </a:solidFill>
                <a:latin typeface="Century Gothic"/>
                <a:cs typeface="Century Gothic"/>
              </a:rPr>
              <a:t>conceptual</a:t>
            </a:r>
            <a:r>
              <a:rPr dirty="0" sz="1150" spc="-1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60">
                <a:solidFill>
                  <a:srgbClr val="2948A2"/>
                </a:solidFill>
                <a:latin typeface="Century Gothic"/>
                <a:cs typeface="Century Gothic"/>
              </a:rPr>
              <a:t>database</a:t>
            </a:r>
            <a:r>
              <a:rPr dirty="0" sz="1150" spc="-1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2948A2"/>
                </a:solidFill>
                <a:latin typeface="Century Gothic"/>
                <a:cs typeface="Century Gothic"/>
              </a:rPr>
              <a:t>design.</a:t>
            </a:r>
            <a:endParaRPr sz="115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67199" y="0"/>
            <a:ext cx="7924800" cy="6858000"/>
            <a:chOff x="4267199" y="0"/>
            <a:chExt cx="7924800" cy="6858000"/>
          </a:xfrm>
        </p:grpSpPr>
        <p:sp>
          <p:nvSpPr>
            <p:cNvPr id="6" name="object 6"/>
            <p:cNvSpPr/>
            <p:nvPr/>
          </p:nvSpPr>
          <p:spPr>
            <a:xfrm>
              <a:off x="4267199" y="0"/>
              <a:ext cx="7924800" cy="6858000"/>
            </a:xfrm>
            <a:custGeom>
              <a:avLst/>
              <a:gdLst/>
              <a:ahLst/>
              <a:cxnLst/>
              <a:rect l="l" t="t" r="r" b="b"/>
              <a:pathLst>
                <a:path w="7924800" h="6858000">
                  <a:moveTo>
                    <a:pt x="7829870" y="6857999"/>
                  </a:moveTo>
                  <a:lnTo>
                    <a:pt x="94928" y="6857999"/>
                  </a:lnTo>
                  <a:lnTo>
                    <a:pt x="88321" y="6857348"/>
                  </a:lnTo>
                  <a:lnTo>
                    <a:pt x="50700" y="6844582"/>
                  </a:lnTo>
                  <a:lnTo>
                    <a:pt x="20828" y="6818392"/>
                  </a:lnTo>
                  <a:lnTo>
                    <a:pt x="3253" y="6782762"/>
                  </a:lnTo>
                  <a:lnTo>
                    <a:pt x="0" y="6763070"/>
                  </a:lnTo>
                  <a:lnTo>
                    <a:pt x="0" y="6756399"/>
                  </a:lnTo>
                  <a:lnTo>
                    <a:pt x="0" y="94928"/>
                  </a:lnTo>
                  <a:lnTo>
                    <a:pt x="10286" y="56556"/>
                  </a:lnTo>
                  <a:lnTo>
                    <a:pt x="34474" y="25040"/>
                  </a:lnTo>
                  <a:lnTo>
                    <a:pt x="68882" y="5180"/>
                  </a:lnTo>
                  <a:lnTo>
                    <a:pt x="94928" y="0"/>
                  </a:lnTo>
                  <a:lnTo>
                    <a:pt x="7829870" y="0"/>
                  </a:lnTo>
                  <a:lnTo>
                    <a:pt x="7868242" y="10286"/>
                  </a:lnTo>
                  <a:lnTo>
                    <a:pt x="7899758" y="34475"/>
                  </a:lnTo>
                  <a:lnTo>
                    <a:pt x="7919616" y="68882"/>
                  </a:lnTo>
                  <a:lnTo>
                    <a:pt x="7924798" y="94928"/>
                  </a:lnTo>
                  <a:lnTo>
                    <a:pt x="7924798" y="6763070"/>
                  </a:lnTo>
                  <a:lnTo>
                    <a:pt x="7914510" y="6801442"/>
                  </a:lnTo>
                  <a:lnTo>
                    <a:pt x="7890323" y="6832958"/>
                  </a:lnTo>
                  <a:lnTo>
                    <a:pt x="7855916" y="6852817"/>
                  </a:lnTo>
                  <a:lnTo>
                    <a:pt x="7836477" y="6857348"/>
                  </a:lnTo>
                  <a:lnTo>
                    <a:pt x="7829870" y="6857999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7224" y="200025"/>
              <a:ext cx="7515224" cy="4190999"/>
            </a:xfrm>
            <a:prstGeom prst="rect">
              <a:avLst/>
            </a:prstGeom>
          </p:spPr>
        </p:pic>
        <p:pic>
          <p:nvPicPr>
            <p:cNvPr id="8" name="object 8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457199"/>
            <a:ext cx="466725" cy="285750"/>
          </a:xfrm>
          <a:custGeom>
            <a:avLst/>
            <a:gdLst/>
            <a:ahLst/>
            <a:cxnLst/>
            <a:rect l="l" t="t" r="r" b="b"/>
            <a:pathLst>
              <a:path w="466725" h="285750">
                <a:moveTo>
                  <a:pt x="395528" y="285749"/>
                </a:moveTo>
                <a:lnTo>
                  <a:pt x="71196" y="285749"/>
                </a:lnTo>
                <a:lnTo>
                  <a:pt x="66241" y="285261"/>
                </a:lnTo>
                <a:lnTo>
                  <a:pt x="29705" y="270128"/>
                </a:lnTo>
                <a:lnTo>
                  <a:pt x="3885" y="234087"/>
                </a:lnTo>
                <a:lnTo>
                  <a:pt x="0" y="214553"/>
                </a:lnTo>
                <a:lnTo>
                  <a:pt x="0" y="2095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395528" y="0"/>
                </a:lnTo>
                <a:lnTo>
                  <a:pt x="437019" y="15621"/>
                </a:lnTo>
                <a:lnTo>
                  <a:pt x="462839" y="51661"/>
                </a:lnTo>
                <a:lnTo>
                  <a:pt x="466725" y="71196"/>
                </a:lnTo>
                <a:lnTo>
                  <a:pt x="466725" y="214553"/>
                </a:lnTo>
                <a:lnTo>
                  <a:pt x="451103" y="256044"/>
                </a:lnTo>
                <a:lnTo>
                  <a:pt x="415062" y="281864"/>
                </a:lnTo>
                <a:lnTo>
                  <a:pt x="400483" y="285261"/>
                </a:lnTo>
                <a:lnTo>
                  <a:pt x="395528" y="285749"/>
                </a:lnTo>
                <a:close/>
              </a:path>
            </a:pathLst>
          </a:custGeom>
          <a:solidFill>
            <a:srgbClr val="D0DE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1199" y="482028"/>
            <a:ext cx="25082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160" b="1">
                <a:solidFill>
                  <a:srgbClr val="1D294A"/>
                </a:solidFill>
                <a:latin typeface="Century Gothic"/>
                <a:cs typeface="Century Gothic"/>
              </a:rPr>
              <a:t>08</a:t>
            </a:r>
            <a:endParaRPr sz="125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Security</a:t>
            </a:r>
            <a:r>
              <a:rPr dirty="0" spc="-405"/>
              <a:t> </a:t>
            </a:r>
            <a:r>
              <a:rPr dirty="0" spc="-315"/>
              <a:t>and</a:t>
            </a:r>
            <a:r>
              <a:rPr dirty="0" spc="-405"/>
              <a:t> </a:t>
            </a:r>
            <a:r>
              <a:rPr dirty="0" spc="-150"/>
              <a:t>reliability</a:t>
            </a:r>
            <a:r>
              <a:rPr dirty="0" spc="-405"/>
              <a:t> </a:t>
            </a:r>
            <a:r>
              <a:rPr dirty="0" spc="-250"/>
              <a:t>are</a:t>
            </a:r>
            <a:r>
              <a:rPr dirty="0" spc="-405"/>
              <a:t> </a:t>
            </a:r>
            <a:r>
              <a:rPr dirty="0" spc="-210"/>
              <a:t>requirements</a:t>
            </a:r>
            <a:r>
              <a:rPr dirty="0" spc="-405"/>
              <a:t> </a:t>
            </a:r>
            <a:r>
              <a:rPr dirty="0" spc="-160"/>
              <a:t>to</a:t>
            </a:r>
            <a:r>
              <a:rPr dirty="0" spc="-405"/>
              <a:t> </a:t>
            </a:r>
            <a:r>
              <a:rPr dirty="0" spc="-50"/>
              <a:t>verify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09599" y="1552574"/>
            <a:ext cx="5410200" cy="2295525"/>
            <a:chOff x="609599" y="1552574"/>
            <a:chExt cx="5410200" cy="2295525"/>
          </a:xfrm>
        </p:grpSpPr>
        <p:sp>
          <p:nvSpPr>
            <p:cNvPr id="6" name="object 6"/>
            <p:cNvSpPr/>
            <p:nvPr/>
          </p:nvSpPr>
          <p:spPr>
            <a:xfrm>
              <a:off x="609599" y="1552574"/>
              <a:ext cx="5410200" cy="2295525"/>
            </a:xfrm>
            <a:custGeom>
              <a:avLst/>
              <a:gdLst/>
              <a:ahLst/>
              <a:cxnLst/>
              <a:rect l="l" t="t" r="r" b="b"/>
              <a:pathLst>
                <a:path w="5410200" h="2295525">
                  <a:moveTo>
                    <a:pt x="5315270" y="2295524"/>
                  </a:moveTo>
                  <a:lnTo>
                    <a:pt x="94928" y="2295524"/>
                  </a:lnTo>
                  <a:lnTo>
                    <a:pt x="88321" y="2294873"/>
                  </a:lnTo>
                  <a:lnTo>
                    <a:pt x="50700" y="2282107"/>
                  </a:lnTo>
                  <a:lnTo>
                    <a:pt x="20829" y="2255917"/>
                  </a:lnTo>
                  <a:lnTo>
                    <a:pt x="3253" y="2220288"/>
                  </a:lnTo>
                  <a:lnTo>
                    <a:pt x="0" y="2200595"/>
                  </a:lnTo>
                  <a:lnTo>
                    <a:pt x="0" y="2193924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8" y="0"/>
                  </a:lnTo>
                  <a:lnTo>
                    <a:pt x="5315270" y="0"/>
                  </a:lnTo>
                  <a:lnTo>
                    <a:pt x="5353642" y="10286"/>
                  </a:lnTo>
                  <a:lnTo>
                    <a:pt x="5385157" y="34474"/>
                  </a:lnTo>
                  <a:lnTo>
                    <a:pt x="5405017" y="68882"/>
                  </a:lnTo>
                  <a:lnTo>
                    <a:pt x="5410199" y="94928"/>
                  </a:lnTo>
                  <a:lnTo>
                    <a:pt x="5410199" y="2200595"/>
                  </a:lnTo>
                  <a:lnTo>
                    <a:pt x="5399911" y="2238968"/>
                  </a:lnTo>
                  <a:lnTo>
                    <a:pt x="5375723" y="2270483"/>
                  </a:lnTo>
                  <a:lnTo>
                    <a:pt x="5341316" y="2290343"/>
                  </a:lnTo>
                  <a:lnTo>
                    <a:pt x="5321877" y="2294873"/>
                  </a:lnTo>
                  <a:lnTo>
                    <a:pt x="5315270" y="229552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38199" y="1781174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504824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504824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25500" y="2347595"/>
            <a:ext cx="4789805" cy="12541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12300"/>
              </a:lnSpc>
              <a:spcBef>
                <a:spcPts val="75"/>
              </a:spcBef>
            </a:pP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Salted</a:t>
            </a:r>
            <a:r>
              <a:rPr dirty="0" sz="1800" spc="-6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password</a:t>
            </a:r>
            <a:r>
              <a:rPr dirty="0" sz="1800" spc="-4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hashing,</a:t>
            </a:r>
            <a:r>
              <a:rPr dirty="0" sz="1800" spc="-9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role-</a:t>
            </a:r>
            <a:r>
              <a:rPr dirty="0" sz="1800" spc="-95">
                <a:solidFill>
                  <a:srgbClr val="1D294A"/>
                </a:solidFill>
                <a:latin typeface="Century Gothic"/>
                <a:cs typeface="Century Gothic"/>
              </a:rPr>
              <a:t>based</a:t>
            </a:r>
            <a:r>
              <a:rPr dirty="0" sz="1800" spc="-3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access 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control,</a:t>
            </a:r>
            <a:r>
              <a:rPr dirty="0" sz="1800" spc="-6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45">
                <a:solidFill>
                  <a:srgbClr val="1D294A"/>
                </a:solidFill>
                <a:latin typeface="Century Gothic"/>
                <a:cs typeface="Century Gothic"/>
              </a:rPr>
              <a:t>server-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side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70">
                <a:solidFill>
                  <a:srgbClr val="1D294A"/>
                </a:solidFill>
                <a:latin typeface="Century Gothic"/>
                <a:cs typeface="Century Gothic"/>
              </a:rPr>
              <a:t>validation,</a:t>
            </a:r>
            <a:r>
              <a:rPr dirty="0" sz="1800" spc="-6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0">
                <a:solidFill>
                  <a:srgbClr val="1D294A"/>
                </a:solidFill>
                <a:latin typeface="Century Gothic"/>
                <a:cs typeface="Century Gothic"/>
              </a:rPr>
              <a:t>prepared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60">
                <a:solidFill>
                  <a:srgbClr val="1D294A"/>
                </a:solidFill>
                <a:latin typeface="Century Gothic"/>
                <a:cs typeface="Century Gothic"/>
              </a:rPr>
              <a:t>SQL </a:t>
            </a:r>
            <a:r>
              <a:rPr dirty="0" sz="1800" spc="-30">
                <a:solidFill>
                  <a:srgbClr val="1D294A"/>
                </a:solidFill>
                <a:latin typeface="Century Gothic"/>
                <a:cs typeface="Century Gothic"/>
              </a:rPr>
              <a:t>statements,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20">
                <a:solidFill>
                  <a:srgbClr val="1D294A"/>
                </a:solidFill>
                <a:latin typeface="Century Gothic"/>
                <a:cs typeface="Century Gothic"/>
              </a:rPr>
              <a:t>database</a:t>
            </a:r>
            <a:r>
              <a:rPr dirty="0" sz="1800" spc="3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constraints,</a:t>
            </a:r>
            <a:r>
              <a:rPr dirty="0" sz="1800" spc="-3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and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transactions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72199" y="1552574"/>
            <a:ext cx="5410200" cy="2295525"/>
            <a:chOff x="6172199" y="1552574"/>
            <a:chExt cx="5410200" cy="2295525"/>
          </a:xfrm>
        </p:grpSpPr>
        <p:sp>
          <p:nvSpPr>
            <p:cNvPr id="10" name="object 10"/>
            <p:cNvSpPr/>
            <p:nvPr/>
          </p:nvSpPr>
          <p:spPr>
            <a:xfrm>
              <a:off x="6172199" y="1552574"/>
              <a:ext cx="5410200" cy="2295525"/>
            </a:xfrm>
            <a:custGeom>
              <a:avLst/>
              <a:gdLst/>
              <a:ahLst/>
              <a:cxnLst/>
              <a:rect l="l" t="t" r="r" b="b"/>
              <a:pathLst>
                <a:path w="5410200" h="2295525">
                  <a:moveTo>
                    <a:pt x="5315270" y="2295524"/>
                  </a:moveTo>
                  <a:lnTo>
                    <a:pt x="94928" y="2295524"/>
                  </a:lnTo>
                  <a:lnTo>
                    <a:pt x="88321" y="2294873"/>
                  </a:lnTo>
                  <a:lnTo>
                    <a:pt x="50700" y="2282107"/>
                  </a:lnTo>
                  <a:lnTo>
                    <a:pt x="20828" y="2255917"/>
                  </a:lnTo>
                  <a:lnTo>
                    <a:pt x="3252" y="2220288"/>
                  </a:lnTo>
                  <a:lnTo>
                    <a:pt x="0" y="2200595"/>
                  </a:lnTo>
                  <a:lnTo>
                    <a:pt x="0" y="2193924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4" y="25040"/>
                  </a:lnTo>
                  <a:lnTo>
                    <a:pt x="68881" y="5180"/>
                  </a:lnTo>
                  <a:lnTo>
                    <a:pt x="94928" y="0"/>
                  </a:lnTo>
                  <a:lnTo>
                    <a:pt x="5315270" y="0"/>
                  </a:lnTo>
                  <a:lnTo>
                    <a:pt x="5353642" y="10286"/>
                  </a:lnTo>
                  <a:lnTo>
                    <a:pt x="5385158" y="34474"/>
                  </a:lnTo>
                  <a:lnTo>
                    <a:pt x="5405017" y="68882"/>
                  </a:lnTo>
                  <a:lnTo>
                    <a:pt x="5410198" y="94928"/>
                  </a:lnTo>
                  <a:lnTo>
                    <a:pt x="5410198" y="2200595"/>
                  </a:lnTo>
                  <a:lnTo>
                    <a:pt x="5399911" y="2238968"/>
                  </a:lnTo>
                  <a:lnTo>
                    <a:pt x="5375723" y="2270483"/>
                  </a:lnTo>
                  <a:lnTo>
                    <a:pt x="5341315" y="2290343"/>
                  </a:lnTo>
                  <a:lnTo>
                    <a:pt x="5321877" y="2294873"/>
                  </a:lnTo>
                  <a:lnTo>
                    <a:pt x="5315270" y="229552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00799" y="1781174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504824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504824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388099" y="2347595"/>
            <a:ext cx="486283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Booking</a:t>
            </a:r>
            <a:r>
              <a:rPr dirty="0" sz="1800" spc="-6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ownership</a:t>
            </a:r>
            <a:r>
              <a:rPr dirty="0" sz="1800" spc="-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45">
                <a:solidFill>
                  <a:srgbClr val="1D294A"/>
                </a:solidFill>
                <a:latin typeface="Century Gothic"/>
                <a:cs typeface="Century Gothic"/>
              </a:rPr>
              <a:t>checks,</a:t>
            </a:r>
            <a:r>
              <a:rPr dirty="0" sz="1800" spc="-8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0">
                <a:solidFill>
                  <a:srgbClr val="1D294A"/>
                </a:solidFill>
                <a:latin typeface="Century Gothic"/>
                <a:cs typeface="Century Gothic"/>
              </a:rPr>
              <a:t>controlled</a:t>
            </a:r>
            <a:r>
              <a:rPr dirty="0" sz="1800" spc="-4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error 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messages,</a:t>
            </a:r>
            <a:r>
              <a:rPr dirty="0" sz="1800" spc="-4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50">
                <a:solidFill>
                  <a:srgbClr val="1D294A"/>
                </a:solidFill>
                <a:latin typeface="Century Gothic"/>
                <a:cs typeface="Century Gothic"/>
              </a:rPr>
              <a:t>session</a:t>
            </a:r>
            <a:r>
              <a:rPr dirty="0" sz="1800" spc="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security,</a:t>
            </a:r>
            <a:r>
              <a:rPr dirty="0" sz="1800" spc="-4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45">
                <a:solidFill>
                  <a:srgbClr val="1D294A"/>
                </a:solidFill>
                <a:latin typeface="Century Gothic"/>
                <a:cs typeface="Century Gothic"/>
              </a:rPr>
              <a:t>output</a:t>
            </a:r>
            <a:r>
              <a:rPr dirty="0" sz="1800" spc="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75">
                <a:solidFill>
                  <a:srgbClr val="1D294A"/>
                </a:solidFill>
                <a:latin typeface="Century Gothic"/>
                <a:cs typeface="Century Gothic"/>
              </a:rPr>
              <a:t>encoding, </a:t>
            </a:r>
            <a:r>
              <a:rPr dirty="0" sz="1800" spc="-15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85">
                <a:solidFill>
                  <a:srgbClr val="1D294A"/>
                </a:solidFill>
                <a:latin typeface="Century Gothic"/>
                <a:cs typeface="Century Gothic"/>
              </a:rPr>
              <a:t>CSRF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protection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9599" y="4000499"/>
            <a:ext cx="5410200" cy="1990725"/>
            <a:chOff x="609599" y="4000499"/>
            <a:chExt cx="5410200" cy="1990725"/>
          </a:xfrm>
        </p:grpSpPr>
        <p:sp>
          <p:nvSpPr>
            <p:cNvPr id="14" name="object 14"/>
            <p:cNvSpPr/>
            <p:nvPr/>
          </p:nvSpPr>
          <p:spPr>
            <a:xfrm>
              <a:off x="609599" y="4000499"/>
              <a:ext cx="5410200" cy="1990725"/>
            </a:xfrm>
            <a:custGeom>
              <a:avLst/>
              <a:gdLst/>
              <a:ahLst/>
              <a:cxnLst/>
              <a:rect l="l" t="t" r="r" b="b"/>
              <a:pathLst>
                <a:path w="5410200" h="1990725">
                  <a:moveTo>
                    <a:pt x="5315270" y="1990724"/>
                  </a:moveTo>
                  <a:lnTo>
                    <a:pt x="94928" y="1990724"/>
                  </a:lnTo>
                  <a:lnTo>
                    <a:pt x="88321" y="1990073"/>
                  </a:lnTo>
                  <a:lnTo>
                    <a:pt x="50700" y="1977307"/>
                  </a:lnTo>
                  <a:lnTo>
                    <a:pt x="20829" y="1951116"/>
                  </a:lnTo>
                  <a:lnTo>
                    <a:pt x="3253" y="1915488"/>
                  </a:lnTo>
                  <a:lnTo>
                    <a:pt x="0" y="1895795"/>
                  </a:lnTo>
                  <a:lnTo>
                    <a:pt x="0" y="1889124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8" y="0"/>
                  </a:lnTo>
                  <a:lnTo>
                    <a:pt x="5315270" y="0"/>
                  </a:lnTo>
                  <a:lnTo>
                    <a:pt x="5353642" y="10286"/>
                  </a:lnTo>
                  <a:lnTo>
                    <a:pt x="5385157" y="34474"/>
                  </a:lnTo>
                  <a:lnTo>
                    <a:pt x="5405017" y="68882"/>
                  </a:lnTo>
                  <a:lnTo>
                    <a:pt x="5410199" y="94928"/>
                  </a:lnTo>
                  <a:lnTo>
                    <a:pt x="5410199" y="1895795"/>
                  </a:lnTo>
                  <a:lnTo>
                    <a:pt x="5399911" y="1934167"/>
                  </a:lnTo>
                  <a:lnTo>
                    <a:pt x="5375723" y="1965683"/>
                  </a:lnTo>
                  <a:lnTo>
                    <a:pt x="5341316" y="1985543"/>
                  </a:lnTo>
                  <a:lnTo>
                    <a:pt x="5321877" y="1990073"/>
                  </a:lnTo>
                  <a:lnTo>
                    <a:pt x="5315270" y="199072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38199" y="4229099"/>
              <a:ext cx="504825" cy="514350"/>
            </a:xfrm>
            <a:custGeom>
              <a:avLst/>
              <a:gdLst/>
              <a:ahLst/>
              <a:cxnLst/>
              <a:rect l="l" t="t" r="r" b="b"/>
              <a:pathLst>
                <a:path w="504825" h="514350">
                  <a:moveTo>
                    <a:pt x="504824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514349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825500" y="4785994"/>
            <a:ext cx="475043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Testing</a:t>
            </a:r>
            <a:r>
              <a:rPr dirty="0" sz="1800" spc="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65">
                <a:solidFill>
                  <a:srgbClr val="1D294A"/>
                </a:solidFill>
                <a:latin typeface="Century Gothic"/>
                <a:cs typeface="Century Gothic"/>
              </a:rPr>
              <a:t>scope:</a:t>
            </a:r>
            <a:r>
              <a:rPr dirty="0" sz="1800" spc="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unit,</a:t>
            </a:r>
            <a:r>
              <a:rPr dirty="0" sz="1800" spc="-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40">
                <a:solidFill>
                  <a:srgbClr val="1D294A"/>
                </a:solidFill>
                <a:latin typeface="Century Gothic"/>
                <a:cs typeface="Century Gothic"/>
              </a:rPr>
              <a:t>integration,</a:t>
            </a:r>
            <a:r>
              <a:rPr dirty="0" sz="1800" spc="-4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functional,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regression,</a:t>
            </a:r>
            <a:r>
              <a:rPr dirty="0" sz="1800" spc="-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security,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5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800" spc="5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55">
                <a:solidFill>
                  <a:srgbClr val="1D294A"/>
                </a:solidFill>
                <a:latin typeface="Century Gothic"/>
                <a:cs typeface="Century Gothic"/>
              </a:rPr>
              <a:t>acceptance</a:t>
            </a:r>
            <a:r>
              <a:rPr dirty="0" sz="1800" spc="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testing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72199" y="4000499"/>
            <a:ext cx="5410200" cy="1990725"/>
            <a:chOff x="6172199" y="4000499"/>
            <a:chExt cx="5410200" cy="1990725"/>
          </a:xfrm>
        </p:grpSpPr>
        <p:sp>
          <p:nvSpPr>
            <p:cNvPr id="18" name="object 18"/>
            <p:cNvSpPr/>
            <p:nvPr/>
          </p:nvSpPr>
          <p:spPr>
            <a:xfrm>
              <a:off x="6172199" y="4000499"/>
              <a:ext cx="5410200" cy="1990725"/>
            </a:xfrm>
            <a:custGeom>
              <a:avLst/>
              <a:gdLst/>
              <a:ahLst/>
              <a:cxnLst/>
              <a:rect l="l" t="t" r="r" b="b"/>
              <a:pathLst>
                <a:path w="5410200" h="1990725">
                  <a:moveTo>
                    <a:pt x="5315270" y="1990724"/>
                  </a:moveTo>
                  <a:lnTo>
                    <a:pt x="94928" y="1990724"/>
                  </a:lnTo>
                  <a:lnTo>
                    <a:pt x="88321" y="1990073"/>
                  </a:lnTo>
                  <a:lnTo>
                    <a:pt x="50700" y="1977307"/>
                  </a:lnTo>
                  <a:lnTo>
                    <a:pt x="20828" y="1951116"/>
                  </a:lnTo>
                  <a:lnTo>
                    <a:pt x="3252" y="1915488"/>
                  </a:lnTo>
                  <a:lnTo>
                    <a:pt x="0" y="1895795"/>
                  </a:lnTo>
                  <a:lnTo>
                    <a:pt x="0" y="1889124"/>
                  </a:lnTo>
                  <a:lnTo>
                    <a:pt x="0" y="94928"/>
                  </a:lnTo>
                  <a:lnTo>
                    <a:pt x="10286" y="56555"/>
                  </a:lnTo>
                  <a:lnTo>
                    <a:pt x="34474" y="25040"/>
                  </a:lnTo>
                  <a:lnTo>
                    <a:pt x="68881" y="5180"/>
                  </a:lnTo>
                  <a:lnTo>
                    <a:pt x="94928" y="0"/>
                  </a:lnTo>
                  <a:lnTo>
                    <a:pt x="5315270" y="0"/>
                  </a:lnTo>
                  <a:lnTo>
                    <a:pt x="5353642" y="10286"/>
                  </a:lnTo>
                  <a:lnTo>
                    <a:pt x="5385158" y="34474"/>
                  </a:lnTo>
                  <a:lnTo>
                    <a:pt x="5405017" y="68882"/>
                  </a:lnTo>
                  <a:lnTo>
                    <a:pt x="5410198" y="94928"/>
                  </a:lnTo>
                  <a:lnTo>
                    <a:pt x="5410198" y="1895795"/>
                  </a:lnTo>
                  <a:lnTo>
                    <a:pt x="5399911" y="1934167"/>
                  </a:lnTo>
                  <a:lnTo>
                    <a:pt x="5375723" y="1965683"/>
                  </a:lnTo>
                  <a:lnTo>
                    <a:pt x="5341315" y="1985543"/>
                  </a:lnTo>
                  <a:lnTo>
                    <a:pt x="5321877" y="1990073"/>
                  </a:lnTo>
                  <a:lnTo>
                    <a:pt x="5315270" y="1990724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400799" y="4229099"/>
              <a:ext cx="504825" cy="514350"/>
            </a:xfrm>
            <a:custGeom>
              <a:avLst/>
              <a:gdLst/>
              <a:ahLst/>
              <a:cxnLst/>
              <a:rect l="l" t="t" r="r" b="b"/>
              <a:pathLst>
                <a:path w="504825" h="514350">
                  <a:moveTo>
                    <a:pt x="504824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514349"/>
                  </a:lnTo>
                  <a:close/>
                </a:path>
              </a:pathLst>
            </a:custGeom>
            <a:solidFill>
              <a:srgbClr val="1D2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388099" y="4785994"/>
            <a:ext cx="4577715" cy="958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135"/>
              </a:spcBef>
            </a:pP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Examples: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0">
                <a:solidFill>
                  <a:srgbClr val="1D294A"/>
                </a:solidFill>
                <a:latin typeface="Century Gothic"/>
                <a:cs typeface="Century Gothic"/>
              </a:rPr>
              <a:t>invalid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0">
                <a:solidFill>
                  <a:srgbClr val="1D294A"/>
                </a:solidFill>
                <a:latin typeface="Century Gothic"/>
                <a:cs typeface="Century Gothic"/>
              </a:rPr>
              <a:t>login,</a:t>
            </a:r>
            <a:r>
              <a:rPr dirty="0" sz="1800" spc="-7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95">
                <a:solidFill>
                  <a:srgbClr val="1D294A"/>
                </a:solidFill>
                <a:latin typeface="Century Gothic"/>
                <a:cs typeface="Century Gothic"/>
              </a:rPr>
              <a:t>duplicate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booking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submission, PNR</a:t>
            </a:r>
            <a:r>
              <a:rPr dirty="0" sz="1800" spc="6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uniqueness,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unauthorized </a:t>
            </a:r>
            <a:r>
              <a:rPr dirty="0" sz="1800" spc="-130">
                <a:solidFill>
                  <a:srgbClr val="1D294A"/>
                </a:solidFill>
                <a:latin typeface="Century Gothic"/>
                <a:cs typeface="Century Gothic"/>
              </a:rPr>
              <a:t>admin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5">
                <a:solidFill>
                  <a:srgbClr val="1D294A"/>
                </a:solidFill>
                <a:latin typeface="Century Gothic"/>
                <a:cs typeface="Century Gothic"/>
              </a:rPr>
              <a:t>access,</a:t>
            </a:r>
            <a:r>
              <a:rPr dirty="0" sz="1800" spc="-6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50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30">
                <a:solidFill>
                  <a:srgbClr val="1D294A"/>
                </a:solidFill>
                <a:latin typeface="Century Gothic"/>
                <a:cs typeface="Century Gothic"/>
              </a:rPr>
              <a:t>transaction</a:t>
            </a:r>
            <a:r>
              <a:rPr dirty="0" sz="1800" spc="-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rollback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6899" y="6146831"/>
            <a:ext cx="795655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The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140">
                <a:solidFill>
                  <a:srgbClr val="2948A2"/>
                </a:solidFill>
                <a:latin typeface="Century Gothic"/>
                <a:cs typeface="Century Gothic"/>
              </a:rPr>
              <a:t>SRS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defines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22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20">
                <a:solidFill>
                  <a:srgbClr val="2948A2"/>
                </a:solidFill>
                <a:latin typeface="Century Gothic"/>
                <a:cs typeface="Century Gothic"/>
              </a:rPr>
              <a:t>functional</a:t>
            </a:r>
            <a:r>
              <a:rPr dirty="0" sz="1150" spc="40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85">
                <a:solidFill>
                  <a:srgbClr val="2948A2"/>
                </a:solidFill>
                <a:latin typeface="Century Gothic"/>
                <a:cs typeface="Century Gothic"/>
              </a:rPr>
              <a:t>and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7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security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test</a:t>
            </a:r>
            <a:r>
              <a:rPr dirty="0" sz="1150" spc="40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cases;</a:t>
            </a:r>
            <a:r>
              <a:rPr dirty="0" sz="1150" spc="40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30">
                <a:solidFill>
                  <a:srgbClr val="2948A2"/>
                </a:solidFill>
                <a:latin typeface="Century Gothic"/>
                <a:cs typeface="Century Gothic"/>
              </a:rPr>
              <a:t>none</a:t>
            </a:r>
            <a:r>
              <a:rPr dirty="0" sz="1150" spc="40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has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65">
                <a:solidFill>
                  <a:srgbClr val="2948A2"/>
                </a:solidFill>
                <a:latin typeface="Century Gothic"/>
                <a:cs typeface="Century Gothic"/>
              </a:rPr>
              <a:t>been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50">
                <a:solidFill>
                  <a:srgbClr val="2948A2"/>
                </a:solidFill>
                <a:latin typeface="Century Gothic"/>
                <a:cs typeface="Century Gothic"/>
              </a:rPr>
              <a:t>executed,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 so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no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pass/fail</a:t>
            </a:r>
            <a:r>
              <a:rPr dirty="0" sz="1150" spc="4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2948A2"/>
                </a:solidFill>
                <a:latin typeface="Century Gothic"/>
                <a:cs typeface="Century Gothic"/>
              </a:rPr>
              <a:t>result</a:t>
            </a:r>
            <a:r>
              <a:rPr dirty="0" sz="1150" spc="40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80">
                <a:solidFill>
                  <a:srgbClr val="2948A2"/>
                </a:solidFill>
                <a:latin typeface="Century Gothic"/>
                <a:cs typeface="Century Gothic"/>
              </a:rPr>
              <a:t>is</a:t>
            </a:r>
            <a:r>
              <a:rPr dirty="0" sz="1150" spc="35">
                <a:solidFill>
                  <a:srgbClr val="2948A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2948A2"/>
                </a:solidFill>
                <a:latin typeface="Century Gothic"/>
                <a:cs typeface="Century Gothic"/>
              </a:rPr>
              <a:t>claimed.</a:t>
            </a:r>
            <a:endParaRPr sz="1150">
              <a:latin typeface="Century Gothic"/>
              <a:cs typeface="Century Gothic"/>
            </a:endParaRPr>
          </a:p>
        </p:txBody>
      </p:sp>
      <p:pic>
        <p:nvPicPr>
          <p:cNvPr id="22" name="object 2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199" y="1024953"/>
            <a:ext cx="25019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155" b="1">
                <a:solidFill>
                  <a:srgbClr val="7EA6F1"/>
                </a:solidFill>
                <a:latin typeface="Century Gothic"/>
                <a:cs typeface="Century Gothic"/>
              </a:rPr>
              <a:t>09</a:t>
            </a:r>
            <a:endParaRPr sz="1250">
              <a:latin typeface="Century Gothic"/>
              <a:cs typeface="Century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600" y="2981324"/>
            <a:ext cx="609600" cy="1332230"/>
          </a:xfrm>
          <a:custGeom>
            <a:avLst/>
            <a:gdLst/>
            <a:ahLst/>
            <a:cxnLst/>
            <a:rect l="l" t="t" r="r" b="b"/>
            <a:pathLst>
              <a:path w="609600" h="1332229">
                <a:moveTo>
                  <a:pt x="101599" y="0"/>
                </a:moveTo>
                <a:lnTo>
                  <a:pt x="507999" y="0"/>
                </a:lnTo>
                <a:lnTo>
                  <a:pt x="507999" y="998897"/>
                </a:lnTo>
                <a:lnTo>
                  <a:pt x="609598" y="998897"/>
                </a:lnTo>
                <a:lnTo>
                  <a:pt x="304799" y="1331862"/>
                </a:lnTo>
                <a:lnTo>
                  <a:pt x="0" y="998897"/>
                </a:lnTo>
                <a:lnTo>
                  <a:pt x="101599" y="998897"/>
                </a:lnTo>
                <a:lnTo>
                  <a:pt x="101599" y="0"/>
                </a:lnTo>
                <a:close/>
              </a:path>
            </a:pathLst>
          </a:custGeom>
          <a:ln w="12699">
            <a:solidFill>
              <a:srgbClr val="D8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96899" y="1431956"/>
            <a:ext cx="3166745" cy="267462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740"/>
              </a:spcBef>
            </a:pPr>
            <a:r>
              <a:rPr dirty="0" sz="3400" spc="-165" b="1">
                <a:solidFill>
                  <a:srgbClr val="0D174E"/>
                </a:solidFill>
                <a:latin typeface="Century Gothic"/>
                <a:cs typeface="Century Gothic"/>
              </a:rPr>
              <a:t>Collaboration </a:t>
            </a:r>
            <a:r>
              <a:rPr dirty="0" sz="3400" spc="-150" b="1">
                <a:solidFill>
                  <a:srgbClr val="0D174E"/>
                </a:solidFill>
                <a:latin typeface="Century Gothic"/>
                <a:cs typeface="Century Gothic"/>
              </a:rPr>
              <a:t>supports</a:t>
            </a:r>
            <a:r>
              <a:rPr dirty="0" sz="3400" spc="-445" b="1">
                <a:solidFill>
                  <a:srgbClr val="0D174E"/>
                </a:solidFill>
                <a:latin typeface="Century Gothic"/>
                <a:cs typeface="Century Gothic"/>
              </a:rPr>
              <a:t> </a:t>
            </a:r>
            <a:r>
              <a:rPr dirty="0" sz="3400" spc="-204" b="1">
                <a:solidFill>
                  <a:srgbClr val="0D174E"/>
                </a:solidFill>
                <a:latin typeface="Century Gothic"/>
                <a:cs typeface="Century Gothic"/>
              </a:rPr>
              <a:t>the</a:t>
            </a:r>
            <a:r>
              <a:rPr dirty="0" sz="3400" spc="-445" b="1">
                <a:solidFill>
                  <a:srgbClr val="0D174E"/>
                </a:solidFill>
                <a:latin typeface="Century Gothic"/>
                <a:cs typeface="Century Gothic"/>
              </a:rPr>
              <a:t> </a:t>
            </a:r>
            <a:r>
              <a:rPr dirty="0" sz="3400" spc="-190" b="1">
                <a:solidFill>
                  <a:srgbClr val="0D174E"/>
                </a:solidFill>
                <a:latin typeface="Century Gothic"/>
                <a:cs typeface="Century Gothic"/>
              </a:rPr>
              <a:t>five-</a:t>
            </a:r>
            <a:r>
              <a:rPr dirty="0" sz="3400" spc="-310" b="1">
                <a:solidFill>
                  <a:srgbClr val="0D174E"/>
                </a:solidFill>
                <a:latin typeface="Century Gothic"/>
                <a:cs typeface="Century Gothic"/>
              </a:rPr>
              <a:t>module</a:t>
            </a:r>
            <a:r>
              <a:rPr dirty="0" sz="3400" spc="-434" b="1">
                <a:solidFill>
                  <a:srgbClr val="0D174E"/>
                </a:solidFill>
                <a:latin typeface="Century Gothic"/>
                <a:cs typeface="Century Gothic"/>
              </a:rPr>
              <a:t> </a:t>
            </a:r>
            <a:r>
              <a:rPr dirty="0" sz="3400" spc="-20" b="1">
                <a:solidFill>
                  <a:srgbClr val="0D174E"/>
                </a:solidFill>
                <a:latin typeface="Century Gothic"/>
                <a:cs typeface="Century Gothic"/>
              </a:rPr>
              <a:t>build</a:t>
            </a:r>
            <a:endParaRPr sz="3400">
              <a:latin typeface="Century Gothic"/>
              <a:cs typeface="Century Gothic"/>
            </a:endParaRPr>
          </a:p>
          <a:p>
            <a:pPr marL="824865" marR="10160">
              <a:lnSpc>
                <a:spcPct val="111100"/>
              </a:lnSpc>
              <a:spcBef>
                <a:spcPts val="2670"/>
              </a:spcBef>
            </a:pPr>
            <a:r>
              <a:rPr dirty="0" sz="1800" spc="-120" b="1">
                <a:solidFill>
                  <a:srgbClr val="1D294A"/>
                </a:solidFill>
                <a:latin typeface="Century Gothic"/>
                <a:cs typeface="Century Gothic"/>
              </a:rPr>
              <a:t>Feature</a:t>
            </a:r>
            <a:r>
              <a:rPr dirty="0" sz="1800" spc="-204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0" b="1">
                <a:solidFill>
                  <a:srgbClr val="1D294A"/>
                </a:solidFill>
                <a:latin typeface="Century Gothic"/>
                <a:cs typeface="Century Gothic"/>
              </a:rPr>
              <a:t>Branch</a:t>
            </a:r>
            <a:r>
              <a:rPr dirty="0" sz="1800" spc="-204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50" b="1">
                <a:solidFill>
                  <a:srgbClr val="1D294A"/>
                </a:solidFill>
                <a:latin typeface="Century Gothic"/>
                <a:cs typeface="Century Gothic"/>
              </a:rPr>
              <a:t>→ </a:t>
            </a:r>
            <a:r>
              <a:rPr dirty="0" sz="1800" spc="-165" b="1">
                <a:solidFill>
                  <a:srgbClr val="1D294A"/>
                </a:solidFill>
                <a:latin typeface="Century Gothic"/>
                <a:cs typeface="Century Gothic"/>
              </a:rPr>
              <a:t>Development</a:t>
            </a:r>
            <a:r>
              <a:rPr dirty="0" sz="1800" spc="-20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80" b="1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-195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50" b="1">
                <a:solidFill>
                  <a:srgbClr val="1D294A"/>
                </a:solidFill>
                <a:latin typeface="Century Gothic"/>
                <a:cs typeface="Century Gothic"/>
              </a:rPr>
              <a:t>Commit </a:t>
            </a:r>
            <a:r>
              <a:rPr dirty="0" sz="1800" spc="-160" b="1">
                <a:solidFill>
                  <a:srgbClr val="1D294A"/>
                </a:solidFill>
                <a:latin typeface="Century Gothic"/>
                <a:cs typeface="Century Gothic"/>
              </a:rPr>
              <a:t>and</a:t>
            </a:r>
            <a:r>
              <a:rPr dirty="0" sz="1800" spc="-22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0" b="1">
                <a:solidFill>
                  <a:srgbClr val="1D294A"/>
                </a:solidFill>
                <a:latin typeface="Century Gothic"/>
                <a:cs typeface="Century Gothic"/>
              </a:rPr>
              <a:t>Push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14850"/>
            <a:ext cx="609600" cy="1332230"/>
          </a:xfrm>
          <a:custGeom>
            <a:avLst/>
            <a:gdLst/>
            <a:ahLst/>
            <a:cxnLst/>
            <a:rect l="l" t="t" r="r" b="b"/>
            <a:pathLst>
              <a:path w="609600" h="1332229">
                <a:moveTo>
                  <a:pt x="101599" y="0"/>
                </a:moveTo>
                <a:lnTo>
                  <a:pt x="507999" y="0"/>
                </a:lnTo>
                <a:lnTo>
                  <a:pt x="507999" y="998897"/>
                </a:lnTo>
                <a:lnTo>
                  <a:pt x="609598" y="998897"/>
                </a:lnTo>
                <a:lnTo>
                  <a:pt x="304799" y="1331862"/>
                </a:lnTo>
                <a:lnTo>
                  <a:pt x="0" y="998897"/>
                </a:lnTo>
                <a:lnTo>
                  <a:pt x="101599" y="998897"/>
                </a:lnTo>
                <a:lnTo>
                  <a:pt x="101599" y="0"/>
                </a:lnTo>
                <a:close/>
              </a:path>
            </a:pathLst>
          </a:custGeom>
          <a:ln w="12699">
            <a:solidFill>
              <a:srgbClr val="D8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14450" y="4700269"/>
            <a:ext cx="2280920" cy="9493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60"/>
              </a:spcBef>
            </a:pPr>
            <a:r>
              <a:rPr dirty="0" sz="1800" spc="-25" b="1">
                <a:solidFill>
                  <a:srgbClr val="1D294A"/>
                </a:solidFill>
                <a:latin typeface="Century Gothic"/>
                <a:cs typeface="Century Gothic"/>
              </a:rPr>
              <a:t>Pull</a:t>
            </a:r>
            <a:r>
              <a:rPr dirty="0" sz="1800" spc="-210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14" b="1">
                <a:solidFill>
                  <a:srgbClr val="1D294A"/>
                </a:solidFill>
                <a:latin typeface="Century Gothic"/>
                <a:cs typeface="Century Gothic"/>
              </a:rPr>
              <a:t>Request</a:t>
            </a:r>
            <a:r>
              <a:rPr dirty="0" sz="1800" spc="-204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80" b="1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-204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0" b="1">
                <a:solidFill>
                  <a:srgbClr val="1D294A"/>
                </a:solidFill>
                <a:latin typeface="Century Gothic"/>
                <a:cs typeface="Century Gothic"/>
              </a:rPr>
              <a:t>Merge </a:t>
            </a:r>
            <a:r>
              <a:rPr dirty="0" sz="1800" spc="-75" b="1">
                <a:solidFill>
                  <a:srgbClr val="1D294A"/>
                </a:solidFill>
                <a:latin typeface="Century Gothic"/>
                <a:cs typeface="Century Gothic"/>
              </a:rPr>
              <a:t>into</a:t>
            </a:r>
            <a:r>
              <a:rPr dirty="0" sz="1800" spc="-215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0" b="1">
                <a:solidFill>
                  <a:srgbClr val="1D294A"/>
                </a:solidFill>
                <a:latin typeface="Century Gothic"/>
                <a:cs typeface="Century Gothic"/>
              </a:rPr>
              <a:t>Main</a:t>
            </a:r>
            <a:r>
              <a:rPr dirty="0" sz="1800" spc="-215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80" b="1">
                <a:solidFill>
                  <a:srgbClr val="1D294A"/>
                </a:solidFill>
                <a:latin typeface="Century Gothic"/>
                <a:cs typeface="Century Gothic"/>
              </a:rPr>
              <a:t>→</a:t>
            </a:r>
            <a:r>
              <a:rPr dirty="0" sz="1800" spc="-215" b="1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0" b="1">
                <a:solidFill>
                  <a:srgbClr val="1D294A"/>
                </a:solidFill>
                <a:latin typeface="Century Gothic"/>
                <a:cs typeface="Century Gothic"/>
              </a:rPr>
              <a:t>Integration </a:t>
            </a:r>
            <a:r>
              <a:rPr dirty="0" sz="1800" spc="-10" b="1">
                <a:solidFill>
                  <a:srgbClr val="1D294A"/>
                </a:solidFill>
                <a:latin typeface="Century Gothic"/>
                <a:cs typeface="Century Gothic"/>
              </a:rPr>
              <a:t>Testing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057773" y="0"/>
            <a:ext cx="7134225" cy="6858000"/>
            <a:chOff x="5057773" y="0"/>
            <a:chExt cx="7134225" cy="6858000"/>
          </a:xfrm>
        </p:grpSpPr>
        <p:sp>
          <p:nvSpPr>
            <p:cNvPr id="8" name="object 8"/>
            <p:cNvSpPr/>
            <p:nvPr/>
          </p:nvSpPr>
          <p:spPr>
            <a:xfrm>
              <a:off x="5057773" y="0"/>
              <a:ext cx="7134225" cy="6858000"/>
            </a:xfrm>
            <a:custGeom>
              <a:avLst/>
              <a:gdLst/>
              <a:ahLst/>
              <a:cxnLst/>
              <a:rect l="l" t="t" r="r" b="b"/>
              <a:pathLst>
                <a:path w="7134225" h="6858000">
                  <a:moveTo>
                    <a:pt x="7039295" y="6857999"/>
                  </a:moveTo>
                  <a:lnTo>
                    <a:pt x="94929" y="6857999"/>
                  </a:lnTo>
                  <a:lnTo>
                    <a:pt x="88322" y="6857348"/>
                  </a:lnTo>
                  <a:lnTo>
                    <a:pt x="50700" y="6844582"/>
                  </a:lnTo>
                  <a:lnTo>
                    <a:pt x="20828" y="6818392"/>
                  </a:lnTo>
                  <a:lnTo>
                    <a:pt x="3253" y="6782762"/>
                  </a:lnTo>
                  <a:lnTo>
                    <a:pt x="0" y="6763070"/>
                  </a:lnTo>
                  <a:lnTo>
                    <a:pt x="0" y="6756399"/>
                  </a:lnTo>
                  <a:lnTo>
                    <a:pt x="0" y="94928"/>
                  </a:lnTo>
                  <a:lnTo>
                    <a:pt x="10285" y="56556"/>
                  </a:lnTo>
                  <a:lnTo>
                    <a:pt x="34475" y="25040"/>
                  </a:lnTo>
                  <a:lnTo>
                    <a:pt x="68882" y="5180"/>
                  </a:lnTo>
                  <a:lnTo>
                    <a:pt x="94929" y="0"/>
                  </a:lnTo>
                  <a:lnTo>
                    <a:pt x="7039295" y="0"/>
                  </a:lnTo>
                  <a:lnTo>
                    <a:pt x="7077668" y="10286"/>
                  </a:lnTo>
                  <a:lnTo>
                    <a:pt x="7109183" y="34475"/>
                  </a:lnTo>
                  <a:lnTo>
                    <a:pt x="7129041" y="68882"/>
                  </a:lnTo>
                  <a:lnTo>
                    <a:pt x="7134223" y="94928"/>
                  </a:lnTo>
                  <a:lnTo>
                    <a:pt x="7134223" y="6763070"/>
                  </a:lnTo>
                  <a:lnTo>
                    <a:pt x="7123936" y="6801442"/>
                  </a:lnTo>
                  <a:lnTo>
                    <a:pt x="7099749" y="6832958"/>
                  </a:lnTo>
                  <a:lnTo>
                    <a:pt x="7065342" y="6852817"/>
                  </a:lnTo>
                  <a:lnTo>
                    <a:pt x="7045902" y="6857348"/>
                  </a:lnTo>
                  <a:lnTo>
                    <a:pt x="7039295" y="6857999"/>
                  </a:lnTo>
                  <a:close/>
                </a:path>
              </a:pathLst>
            </a:custGeom>
            <a:solidFill>
              <a:srgbClr val="E7ED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895974" y="838199"/>
              <a:ext cx="514350" cy="504825"/>
            </a:xfrm>
            <a:custGeom>
              <a:avLst/>
              <a:gdLst/>
              <a:ahLst/>
              <a:cxnLst/>
              <a:rect l="l" t="t" r="r" b="b"/>
              <a:pathLst>
                <a:path w="514350" h="504825">
                  <a:moveTo>
                    <a:pt x="514349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04824"/>
                  </a:lnTo>
                  <a:close/>
                </a:path>
              </a:pathLst>
            </a:custGeom>
            <a:solidFill>
              <a:srgbClr val="7EA6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885060" y="1404619"/>
            <a:ext cx="1983739" cy="37211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70"/>
              </a:spcBef>
            </a:pP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Limitations:</a:t>
            </a:r>
            <a:r>
              <a:rPr dirty="0" sz="1800" spc="-7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45">
                <a:solidFill>
                  <a:srgbClr val="1D294A"/>
                </a:solidFill>
                <a:latin typeface="Century Gothic"/>
                <a:cs typeface="Century Gothic"/>
              </a:rPr>
              <a:t>no</a:t>
            </a:r>
            <a:r>
              <a:rPr dirty="0" sz="1800" spc="-7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30">
                <a:solidFill>
                  <a:srgbClr val="1D294A"/>
                </a:solidFill>
                <a:latin typeface="Century Gothic"/>
                <a:cs typeface="Century Gothic"/>
              </a:rPr>
              <a:t>live 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airline</a:t>
            </a:r>
            <a:r>
              <a:rPr dirty="0" sz="1800" spc="-9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inventory integration; payment processing</a:t>
            </a:r>
            <a:r>
              <a:rPr dirty="0" sz="1800" spc="-114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and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refunds</a:t>
            </a:r>
            <a:r>
              <a:rPr dirty="0" sz="1800" spc="-4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outside 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the</a:t>
            </a:r>
            <a:r>
              <a:rPr dirty="0" sz="1800" spc="-10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baseline; email/SMS 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delivery</a:t>
            </a:r>
            <a:r>
              <a:rPr dirty="0" sz="1800" spc="-7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and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production </a:t>
            </a:r>
            <a:r>
              <a:rPr dirty="0" sz="1800" spc="-85">
                <a:solidFill>
                  <a:srgbClr val="1D294A"/>
                </a:solidFill>
                <a:latin typeface="Century Gothic"/>
                <a:cs typeface="Century Gothic"/>
              </a:rPr>
              <a:t>deployment</a:t>
            </a:r>
            <a:r>
              <a:rPr dirty="0" sz="1800" spc="3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not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verified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315449" y="838199"/>
            <a:ext cx="2781300" cy="5924550"/>
            <a:chOff x="9315449" y="838199"/>
            <a:chExt cx="2781300" cy="5924550"/>
          </a:xfrm>
        </p:grpSpPr>
        <p:sp>
          <p:nvSpPr>
            <p:cNvPr id="12" name="object 12"/>
            <p:cNvSpPr/>
            <p:nvPr/>
          </p:nvSpPr>
          <p:spPr>
            <a:xfrm>
              <a:off x="9315449" y="838199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504824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504824" y="0"/>
                  </a:lnTo>
                  <a:lnTo>
                    <a:pt x="504824" y="504824"/>
                  </a:lnTo>
                  <a:close/>
                </a:path>
              </a:pathLst>
            </a:custGeom>
            <a:solidFill>
              <a:srgbClr val="7EA6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244" y="6343649"/>
              <a:ext cx="1754504" cy="4191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298879" y="1404619"/>
            <a:ext cx="1969135" cy="37211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12400"/>
              </a:lnSpc>
              <a:spcBef>
                <a:spcPts val="70"/>
              </a:spcBef>
            </a:pP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Future enhancements: </a:t>
            </a:r>
            <a:r>
              <a:rPr dirty="0" sz="1800" spc="-95">
                <a:solidFill>
                  <a:srgbClr val="1D294A"/>
                </a:solidFill>
                <a:latin typeface="Century Gothic"/>
                <a:cs typeface="Century Gothic"/>
              </a:rPr>
              <a:t>payment</a:t>
            </a:r>
            <a:r>
              <a:rPr dirty="0" sz="1800" spc="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75">
                <a:solidFill>
                  <a:srgbClr val="1D294A"/>
                </a:solidFill>
                <a:latin typeface="Century Gothic"/>
                <a:cs typeface="Century Gothic"/>
              </a:rPr>
              <a:t>gateway </a:t>
            </a:r>
            <a:r>
              <a:rPr dirty="0" sz="1800" spc="-35">
                <a:solidFill>
                  <a:srgbClr val="1D294A"/>
                </a:solidFill>
                <a:latin typeface="Century Gothic"/>
                <a:cs typeface="Century Gothic"/>
              </a:rPr>
              <a:t>integration;</a:t>
            </a:r>
            <a:r>
              <a:rPr dirty="0" sz="1800" spc="-6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45">
                <a:solidFill>
                  <a:srgbClr val="1D294A"/>
                </a:solidFill>
                <a:latin typeface="Century Gothic"/>
                <a:cs typeface="Century Gothic"/>
              </a:rPr>
              <a:t>PDF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tickets</a:t>
            </a:r>
            <a:r>
              <a:rPr dirty="0" sz="1800" spc="3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and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notifications; </a:t>
            </a:r>
            <a:r>
              <a:rPr dirty="0" sz="1800" spc="-90">
                <a:solidFill>
                  <a:srgbClr val="1D294A"/>
                </a:solidFill>
                <a:latin typeface="Century Gothic"/>
                <a:cs typeface="Century Gothic"/>
              </a:rPr>
              <a:t>graphical</a:t>
            </a:r>
            <a:r>
              <a:rPr dirty="0" sz="1800" spc="15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seat </a:t>
            </a:r>
            <a:r>
              <a:rPr dirty="0" sz="1800" spc="-30">
                <a:solidFill>
                  <a:srgbClr val="1D294A"/>
                </a:solidFill>
                <a:latin typeface="Century Gothic"/>
                <a:cs typeface="Century Gothic"/>
              </a:rPr>
              <a:t>selection;</a:t>
            </a:r>
            <a:r>
              <a:rPr dirty="0" sz="1800" spc="-5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40">
                <a:solidFill>
                  <a:srgbClr val="1D294A"/>
                </a:solidFill>
                <a:latin typeface="Century Gothic"/>
                <a:cs typeface="Century Gothic"/>
              </a:rPr>
              <a:t>external 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airline</a:t>
            </a:r>
            <a:r>
              <a:rPr dirty="0" sz="1800" spc="-9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0">
                <a:solidFill>
                  <a:srgbClr val="1D294A"/>
                </a:solidFill>
                <a:latin typeface="Century Gothic"/>
                <a:cs typeface="Century Gothic"/>
              </a:rPr>
              <a:t>APIs; 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automated </a:t>
            </a:r>
            <a:r>
              <a:rPr dirty="0" sz="1800">
                <a:solidFill>
                  <a:srgbClr val="1D294A"/>
                </a:solidFill>
                <a:latin typeface="Century Gothic"/>
                <a:cs typeface="Century Gothic"/>
              </a:rPr>
              <a:t>regression</a:t>
            </a:r>
            <a:r>
              <a:rPr dirty="0" sz="1800" spc="60">
                <a:solidFill>
                  <a:srgbClr val="1D294A"/>
                </a:solidFill>
                <a:latin typeface="Century Gothic"/>
                <a:cs typeface="Century Gothic"/>
              </a:rPr>
              <a:t> </a:t>
            </a:r>
            <a:r>
              <a:rPr dirty="0" sz="1800" spc="-25">
                <a:solidFill>
                  <a:srgbClr val="1D294A"/>
                </a:solidFill>
                <a:latin typeface="Century Gothic"/>
                <a:cs typeface="Century Gothic"/>
              </a:rPr>
              <a:t>and </a:t>
            </a:r>
            <a:r>
              <a:rPr dirty="0" sz="1800" spc="-120">
                <a:solidFill>
                  <a:srgbClr val="1D294A"/>
                </a:solidFill>
                <a:latin typeface="Century Gothic"/>
                <a:cs typeface="Century Gothic"/>
              </a:rPr>
              <a:t>load</a:t>
            </a:r>
            <a:r>
              <a:rPr dirty="0" sz="1800" spc="-10">
                <a:solidFill>
                  <a:srgbClr val="1D294A"/>
                </a:solidFill>
                <a:latin typeface="Century Gothic"/>
                <a:cs typeface="Century Gothic"/>
              </a:rPr>
              <a:t> testing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000000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86450" y="1400238"/>
            <a:ext cx="3680460" cy="1829435"/>
          </a:xfrm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marL="12700" marR="5080">
              <a:lnSpc>
                <a:spcPct val="84500"/>
              </a:lnSpc>
              <a:spcBef>
                <a:spcPts val="915"/>
              </a:spcBef>
            </a:pPr>
            <a:r>
              <a:rPr dirty="0" sz="4400" spc="-10">
                <a:solidFill>
                  <a:srgbClr val="FFFFFF"/>
                </a:solidFill>
              </a:rPr>
              <a:t>AIRLINE </a:t>
            </a:r>
            <a:r>
              <a:rPr dirty="0" sz="4400" spc="-240">
                <a:solidFill>
                  <a:srgbClr val="FFFFFF"/>
                </a:solidFill>
              </a:rPr>
              <a:t>MANAGEMENT </a:t>
            </a:r>
            <a:r>
              <a:rPr dirty="0" sz="4400" spc="-10">
                <a:solidFill>
                  <a:srgbClr val="FFFFFF"/>
                </a:solidFill>
              </a:rPr>
              <a:t>SYSTEM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6296012" y="5010150"/>
            <a:ext cx="5286375" cy="19050"/>
          </a:xfrm>
          <a:custGeom>
            <a:avLst/>
            <a:gdLst/>
            <a:ahLst/>
            <a:cxnLst/>
            <a:rect l="l" t="t" r="r" b="b"/>
            <a:pathLst>
              <a:path w="5286375" h="19050">
                <a:moveTo>
                  <a:pt x="2495550" y="0"/>
                </a:moveTo>
                <a:lnTo>
                  <a:pt x="0" y="0"/>
                </a:lnTo>
                <a:lnTo>
                  <a:pt x="0" y="19050"/>
                </a:lnTo>
                <a:lnTo>
                  <a:pt x="2495550" y="19050"/>
                </a:lnTo>
                <a:lnTo>
                  <a:pt x="2495550" y="0"/>
                </a:lnTo>
                <a:close/>
              </a:path>
              <a:path w="5286375" h="19050">
                <a:moveTo>
                  <a:pt x="5286375" y="0"/>
                </a:moveTo>
                <a:lnTo>
                  <a:pt x="2800350" y="0"/>
                </a:lnTo>
                <a:lnTo>
                  <a:pt x="2800350" y="19050"/>
                </a:lnTo>
                <a:lnTo>
                  <a:pt x="5286375" y="19050"/>
                </a:lnTo>
                <a:lnTo>
                  <a:pt x="5286375" y="0"/>
                </a:lnTo>
                <a:close/>
              </a:path>
            </a:pathLst>
          </a:custGeom>
          <a:solidFill>
            <a:srgbClr val="BE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14300"/>
              </a:lnSpc>
              <a:spcBef>
                <a:spcPts val="80"/>
              </a:spcBef>
            </a:pPr>
            <a:r>
              <a:rPr dirty="0"/>
              <a:t>SkyTech</a:t>
            </a:r>
            <a:r>
              <a:rPr dirty="0" spc="10"/>
              <a:t> </a:t>
            </a:r>
            <a:r>
              <a:rPr dirty="0"/>
              <a:t>Airlines</a:t>
            </a:r>
            <a:r>
              <a:rPr dirty="0" spc="15"/>
              <a:t> </a:t>
            </a:r>
            <a:r>
              <a:rPr dirty="0" spc="-10"/>
              <a:t>proposes</a:t>
            </a:r>
            <a:r>
              <a:rPr dirty="0" spc="15"/>
              <a:t> </a:t>
            </a:r>
            <a:r>
              <a:rPr dirty="0" spc="-215"/>
              <a:t>a</a:t>
            </a:r>
            <a:r>
              <a:rPr dirty="0" spc="15"/>
              <a:t> </a:t>
            </a:r>
            <a:r>
              <a:rPr dirty="0" spc="-90"/>
              <a:t>modular</a:t>
            </a:r>
            <a:r>
              <a:rPr dirty="0" spc="15"/>
              <a:t> </a:t>
            </a:r>
            <a:r>
              <a:rPr dirty="0" spc="-85"/>
              <a:t>Java</a:t>
            </a:r>
            <a:r>
              <a:rPr dirty="0" spc="15"/>
              <a:t> </a:t>
            </a:r>
            <a:r>
              <a:rPr dirty="0" spc="-25"/>
              <a:t>web </a:t>
            </a:r>
            <a:r>
              <a:rPr dirty="0" spc="-80"/>
              <a:t>application</a:t>
            </a:r>
            <a:r>
              <a:rPr dirty="0" spc="-5"/>
              <a:t> </a:t>
            </a:r>
            <a:r>
              <a:rPr dirty="0"/>
              <a:t>for </a:t>
            </a:r>
            <a:r>
              <a:rPr dirty="0" spc="-20"/>
              <a:t>reservation</a:t>
            </a:r>
            <a:r>
              <a:rPr dirty="0"/>
              <a:t> </a:t>
            </a:r>
            <a:r>
              <a:rPr dirty="0" spc="-20"/>
              <a:t>activities,</a:t>
            </a:r>
            <a:r>
              <a:rPr dirty="0" spc="-45"/>
              <a:t> </a:t>
            </a:r>
            <a:r>
              <a:rPr dirty="0" spc="-35"/>
              <a:t>supported</a:t>
            </a:r>
            <a:r>
              <a:rPr dirty="0" spc="-5"/>
              <a:t> </a:t>
            </a:r>
            <a:r>
              <a:rPr dirty="0" spc="-25"/>
              <a:t>by </a:t>
            </a:r>
            <a:r>
              <a:rPr dirty="0" spc="-105"/>
              <a:t>database</a:t>
            </a:r>
            <a:r>
              <a:rPr dirty="0" spc="5"/>
              <a:t> </a:t>
            </a:r>
            <a:r>
              <a:rPr dirty="0"/>
              <a:t>integrity,</a:t>
            </a:r>
            <a:r>
              <a:rPr dirty="0" spc="-40"/>
              <a:t> </a:t>
            </a:r>
            <a:r>
              <a:rPr dirty="0" spc="-90"/>
              <a:t>maintainable</a:t>
            </a:r>
            <a:r>
              <a:rPr dirty="0" spc="10"/>
              <a:t> </a:t>
            </a:r>
            <a:r>
              <a:rPr dirty="0"/>
              <a:t>layers,</a:t>
            </a:r>
            <a:r>
              <a:rPr dirty="0" spc="-40"/>
              <a:t> </a:t>
            </a:r>
            <a:r>
              <a:rPr dirty="0" spc="-20"/>
              <a:t>team </a:t>
            </a:r>
            <a:r>
              <a:rPr dirty="0" spc="-65"/>
              <a:t>collaboration,</a:t>
            </a:r>
            <a:r>
              <a:rPr dirty="0" spc="-60"/>
              <a:t> </a:t>
            </a:r>
            <a:r>
              <a:rPr dirty="0" spc="-140"/>
              <a:t>and</a:t>
            </a:r>
            <a:r>
              <a:rPr dirty="0" spc="-15"/>
              <a:t> </a:t>
            </a:r>
            <a:r>
              <a:rPr dirty="0" spc="-30"/>
              <a:t>explicit</a:t>
            </a:r>
            <a:r>
              <a:rPr dirty="0" spc="-40"/>
              <a:t> </a:t>
            </a:r>
            <a:r>
              <a:rPr dirty="0" spc="-30"/>
              <a:t>verification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55"/>
              <a:t>implementation </a:t>
            </a:r>
            <a:r>
              <a:rPr dirty="0" spc="-140"/>
              <a:t>and</a:t>
            </a:r>
            <a:r>
              <a:rPr dirty="0" spc="5"/>
              <a:t> </a:t>
            </a:r>
            <a:r>
              <a:rPr dirty="0" spc="-10"/>
              <a:t>testing.</a:t>
            </a:r>
          </a:p>
          <a:p>
            <a:pPr>
              <a:lnSpc>
                <a:spcPct val="100000"/>
              </a:lnSpc>
              <a:spcBef>
                <a:spcPts val="940"/>
              </a:spcBef>
            </a:pPr>
          </a:p>
          <a:p>
            <a:pPr marL="12700">
              <a:lnSpc>
                <a:spcPct val="100000"/>
              </a:lnSpc>
              <a:tabLst>
                <a:tab pos="2806065" algn="l"/>
              </a:tabLst>
            </a:pPr>
            <a:r>
              <a:rPr dirty="0" sz="1800"/>
              <a:t>THANK</a:t>
            </a:r>
            <a:r>
              <a:rPr dirty="0" sz="1800" spc="220"/>
              <a:t> </a:t>
            </a:r>
            <a:r>
              <a:rPr dirty="0" sz="1800" spc="-25"/>
              <a:t>YOU</a:t>
            </a:r>
            <a:r>
              <a:rPr dirty="0" sz="1800"/>
              <a:t>	Questions</a:t>
            </a:r>
            <a:r>
              <a:rPr dirty="0" sz="1800" spc="-110"/>
              <a:t> </a:t>
            </a:r>
            <a:r>
              <a:rPr dirty="0" sz="1800" spc="-150"/>
              <a:t>&amp;</a:t>
            </a:r>
            <a:r>
              <a:rPr dirty="0" sz="1800" spc="-15"/>
              <a:t> </a:t>
            </a:r>
            <a:r>
              <a:rPr dirty="0" sz="1800" spc="-10"/>
              <a:t>Answers</a:t>
            </a:r>
            <a:endParaRPr sz="1800"/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1150" spc="-60"/>
              <a:t>Team</a:t>
            </a:r>
            <a:r>
              <a:rPr dirty="0" sz="1150" spc="20"/>
              <a:t> </a:t>
            </a:r>
            <a:r>
              <a:rPr dirty="0" sz="1150"/>
              <a:t>SkyTech</a:t>
            </a:r>
            <a:r>
              <a:rPr dirty="0" sz="1150" spc="25"/>
              <a:t> </a:t>
            </a:r>
            <a:r>
              <a:rPr dirty="0" sz="1150" spc="-290"/>
              <a:t>—</a:t>
            </a:r>
            <a:r>
              <a:rPr dirty="0" sz="1150" spc="20"/>
              <a:t> </a:t>
            </a:r>
            <a:r>
              <a:rPr dirty="0" sz="1150"/>
              <a:t>Arya</a:t>
            </a:r>
            <a:r>
              <a:rPr dirty="0" sz="1150" spc="25"/>
              <a:t> </a:t>
            </a:r>
            <a:r>
              <a:rPr dirty="0" sz="1150" spc="-50"/>
              <a:t>College</a:t>
            </a:r>
            <a:r>
              <a:rPr dirty="0" sz="1150" spc="20"/>
              <a:t> </a:t>
            </a:r>
            <a:r>
              <a:rPr dirty="0" sz="1150"/>
              <a:t>of</a:t>
            </a:r>
            <a:r>
              <a:rPr dirty="0" sz="1150" spc="30"/>
              <a:t> </a:t>
            </a:r>
            <a:r>
              <a:rPr dirty="0" sz="1150" spc="-10"/>
              <a:t>Engineering</a:t>
            </a:r>
            <a:r>
              <a:rPr dirty="0" sz="1150" spc="25"/>
              <a:t> </a:t>
            </a:r>
            <a:r>
              <a:rPr dirty="0" sz="1150" spc="-105"/>
              <a:t>&amp;</a:t>
            </a:r>
            <a:r>
              <a:rPr dirty="0" sz="1150" spc="20"/>
              <a:t> </a:t>
            </a:r>
            <a:r>
              <a:rPr dirty="0" sz="1150" spc="80"/>
              <a:t>IT</a:t>
            </a:r>
            <a:endParaRPr sz="1150"/>
          </a:p>
        </p:txBody>
      </p:sp>
      <p:pic>
        <p:nvPicPr>
          <p:cNvPr id="8" name="object 8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2026-10-27T19:15:46Z</dcterms:created>
  <dcterms:modified xsi:type="dcterms:W3CDTF">2026-10-27T19:15:46Z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2026-10-27T00:00:00Z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2026-10-27T00:00:00Z</vt:filetime>
  </property>
  <property fmtid="{D5CDD505-2E9C-101B-9397-08002B2CF9AE}" pid="6" name="Producer">
    <vt:lpwstr>pdf-lib (https://github.com/Hopding/pdf-lib)</vt:lpwstr>
  </property>
</Properties>
</file>